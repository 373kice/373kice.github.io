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590495" cy="1828800"/>
          </a:xfrm>
          <a:prstGeom prst="rect">
            <a:avLst/>
          </a:prstGeom>
          <a:solidFill>
            <a:srgbClr val="13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0" y="0"/>
            <a:ext cx="1218895" cy="320040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2926080" cy="41148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155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2025年A股市场分析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</a:rPr>
              <a:t>A股大盘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00B0FF"/>
                </a:solidFill>
              </a:rPr>
              <a:t>分析报告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0BEC5"/>
                </a:solidFill>
              </a:rPr>
              <a:t>缩量整理  |  结构分化  |  北向逆势流入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C5"/>
                </a:solidFill>
              </a:rPr>
              <a:t>报告日期：2025年3月10日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035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BEC5"/>
                </a:solidFill>
              </a:rPr>
              <a:t>数据来源：新浪财经 / 东方财富 / 雪球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035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00B0FF"/>
                </a:solidFill>
              </a:rPr>
              <a:t>WorkBuddy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目录 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0B0FF"/>
                </a:solidFill>
              </a:rPr>
              <a:t>2025.03.10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02920" cy="59436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0584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005840"/>
            <a:ext cx="3246119" cy="59436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042416"/>
            <a:ext cx="3017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大盘概况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307592"/>
            <a:ext cx="3017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三大指数 · 成交量 · 涨跌分布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005840"/>
            <a:ext cx="502920" cy="59436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00584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00600" y="1005840"/>
            <a:ext cx="3246119" cy="59436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1042416"/>
            <a:ext cx="3017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资金流向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307592"/>
            <a:ext cx="3017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主力资金 · 北向资金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005840"/>
            <a:ext cx="502920" cy="59436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00584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32520" y="1005840"/>
            <a:ext cx="3246119" cy="59436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042416"/>
            <a:ext cx="3017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热点板块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307592"/>
            <a:ext cx="3017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领涨板块 · 领跌板块 · 轮动逻辑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764792"/>
            <a:ext cx="502920" cy="59436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1764792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1764792"/>
            <a:ext cx="3246119" cy="59436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1801368"/>
            <a:ext cx="3017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个股TOP10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2066544"/>
            <a:ext cx="3017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主力净流入前十个股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1764792"/>
            <a:ext cx="502920" cy="59436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1764792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00600" y="1764792"/>
            <a:ext cx="3246119" cy="59436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1801368"/>
            <a:ext cx="3017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市场分析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2066544"/>
            <a:ext cx="3017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技术面 · 情绪面 · 四大特点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1764792"/>
            <a:ext cx="502920" cy="59436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1764792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32520" y="1764792"/>
            <a:ext cx="3246119" cy="59436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0" y="1801368"/>
            <a:ext cx="3017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后市展望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2066544"/>
            <a:ext cx="3017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短期 · 中期 · 四大投资主线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523744"/>
            <a:ext cx="502920" cy="59436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2523744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" y="2523744"/>
            <a:ext cx="3246119" cy="59436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2560320"/>
            <a:ext cx="3017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操作建议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825496"/>
            <a:ext cx="3017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短期策略 · 中期策略 · 重点关注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80" y="2523744"/>
            <a:ext cx="502920" cy="59436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97680" y="2523744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00600" y="2523744"/>
            <a:ext cx="3246119" cy="59436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2560320"/>
            <a:ext cx="3017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风险提示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7760" y="2825496"/>
            <a:ext cx="3017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五大风险 · 应对措施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2523744"/>
            <a:ext cx="502920" cy="59436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0" y="2523744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32520" y="2523744"/>
            <a:ext cx="3246119" cy="59436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69680" y="2560320"/>
            <a:ext cx="3017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总结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2825496"/>
            <a:ext cx="3017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核心观点 · 数据回顾 · 投资建议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01  大盘概况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0B0FF"/>
                </a:solidFill>
              </a:rPr>
              <a:t>指数表现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2194560" cy="347472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326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今日市场概况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三大指数集体小幅收跌，结束四连阳走势进入震荡整理；成交显著缩量，观望情绪升温；个股涨多跌少，结构性机会突出。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94560"/>
            <a:ext cx="2651760" cy="164592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194560"/>
            <a:ext cx="2651760" cy="54864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3317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BEC5"/>
                </a:solidFill>
              </a:rPr>
              <a:t>上证指数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697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3366.16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375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4336"/>
                </a:solidFill>
              </a:rPr>
              <a:t>↓  -0.19%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2194560"/>
            <a:ext cx="2651760" cy="164592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2194560"/>
            <a:ext cx="2651760" cy="54864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23317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BEC5"/>
                </a:solidFill>
              </a:rPr>
              <a:t>深证成指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697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10825.70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3375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4336"/>
                </a:solidFill>
              </a:rPr>
              <a:t>↓  -0.17%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194560"/>
            <a:ext cx="2651760" cy="164592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194560"/>
            <a:ext cx="2651760" cy="54864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23317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BEC5"/>
                </a:solidFill>
              </a:rPr>
              <a:t>创业板指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697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2199.88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3375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4336"/>
                </a:solidFill>
              </a:rPr>
              <a:t>↓  -0.25%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2194560"/>
            <a:ext cx="2651760" cy="164592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0" y="2194560"/>
            <a:ext cx="2651760" cy="54864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23317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BEC5"/>
                </a:solidFill>
              </a:rPr>
              <a:t>沪深300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697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3928.00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3375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4336"/>
                </a:solidFill>
              </a:rPr>
              <a:t>↓  -0.39%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023360"/>
            <a:ext cx="2194560" cy="118872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5157216"/>
            <a:ext cx="2194560" cy="54864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09651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5"/>
                </a:solidFill>
              </a:rPr>
              <a:t>总成交额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443984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0FF"/>
                </a:solidFill>
              </a:rPr>
              <a:t>15057亿元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88920" y="4023360"/>
            <a:ext cx="2194560" cy="118872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88920" y="5157216"/>
            <a:ext cx="2194560" cy="54864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88920" y="409651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5"/>
                </a:solidFill>
              </a:rPr>
              <a:t>较前日缩量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88920" y="4443984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A726"/>
                </a:solidFill>
              </a:rPr>
              <a:t>▼ 3176亿元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12080" y="4023360"/>
            <a:ext cx="2194560" cy="118872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212080" y="5157216"/>
            <a:ext cx="2194560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80" y="409651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5"/>
                </a:solidFill>
              </a:rPr>
              <a:t>上涨家数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0" y="4443984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676"/>
                </a:solidFill>
              </a:rPr>
              <a:t>3279只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35240" y="4023360"/>
            <a:ext cx="2194560" cy="118872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35240" y="5157216"/>
            <a:ext cx="2194560" cy="54864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35240" y="409651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5"/>
                </a:solidFill>
              </a:rPr>
              <a:t>下跌家数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4443984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4336"/>
                </a:solidFill>
              </a:rPr>
              <a:t>1950只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58400" y="4023360"/>
            <a:ext cx="2194560" cy="118872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058400" y="5157216"/>
            <a:ext cx="2194560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0" y="409651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EC5"/>
                </a:solidFill>
              </a:rPr>
              <a:t>上涨占比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4443984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676"/>
                </a:solidFill>
              </a:rPr>
              <a:t>62.7%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02  资金流向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0B0FF"/>
                </a:solidFill>
              </a:rPr>
              <a:t>主力资金 · 北向资金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1828800" cy="347472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3268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主力资金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371600"/>
          <a:ext cx="53035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资金类型</a:t>
                      </a:r>
                    </a:p>
                  </a:txBody>
                  <a:tcPr>
                    <a:solidFill>
                      <a:srgbClr val="005C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流向</a:t>
                      </a:r>
                    </a:p>
                  </a:txBody>
                  <a:tcPr>
                    <a:solidFill>
                      <a:srgbClr val="005C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金额(亿元)</a:t>
                      </a:r>
                    </a:p>
                  </a:txBody>
                  <a:tcPr>
                    <a:solidFill>
                      <a:srgbClr val="005C9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超大单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净流出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-167.27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大单</a:t>
                      </a:r>
                    </a:p>
                  </a:txBody>
                  <a:tcPr>
                    <a:solidFill>
                      <a:srgbClr val="1326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净流出</a:t>
                      </a:r>
                    </a:p>
                  </a:txBody>
                  <a:tcPr>
                    <a:solidFill>
                      <a:srgbClr val="1326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-101.38</a:t>
                      </a:r>
                    </a:p>
                  </a:txBody>
                  <a:tcPr>
                    <a:solidFill>
                      <a:srgbClr val="13265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中单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净流入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+58.26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小单</a:t>
                      </a:r>
                    </a:p>
                  </a:txBody>
                  <a:tcPr>
                    <a:solidFill>
                      <a:srgbClr val="1326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净流入</a:t>
                      </a:r>
                    </a:p>
                  </a:txBody>
                  <a:tcPr>
                    <a:solidFill>
                      <a:srgbClr val="1326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+210.38</a:t>
                      </a:r>
                    </a:p>
                  </a:txBody>
                  <a:tcPr>
                    <a:solidFill>
                      <a:srgbClr val="13265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合计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净流出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-248.13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217920" y="914400"/>
            <a:ext cx="3200400" cy="34747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93268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北向资金（逆势净买入）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669280" cy="164592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669280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55448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E676"/>
                </a:solidFill>
              </a:rPr>
              <a:t>+50亿元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4688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BEC5"/>
                </a:solidFill>
              </a:rPr>
              <a:t>外资逆势净流入，长期信心坚定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200400"/>
            <a:ext cx="1828800" cy="347472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21868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资金解读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611880"/>
            <a:ext cx="5669280" cy="2560320"/>
          </a:xfrm>
          <a:prstGeom prst="rect">
            <a:avLst/>
          </a:prstGeom>
          <a:solidFill>
            <a:srgbClr val="13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611880"/>
            <a:ext cx="5669280" cy="41148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6576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0FF"/>
                </a:solidFill>
              </a:rPr>
              <a:t>核心要点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114800"/>
            <a:ext cx="5340096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B0BEC5"/>
                </a:solidFill>
              </a:rPr>
              <a:t>主力资金大幅净流出 248亿，超大单主导流出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B0BEC5"/>
                </a:solidFill>
              </a:rPr>
              <a:t>北向资金逆势净买入 50亿，与主力形成反差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B0BEC5"/>
                </a:solidFill>
              </a:rPr>
              <a:t>散户（小单）净流入 210亿，参与意愿较强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B0BEC5"/>
                </a:solidFill>
              </a:rPr>
              <a:t>资金结构分化，外资长期配置逻辑未变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846320"/>
            <a:ext cx="5303520" cy="73152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846320"/>
            <a:ext cx="4384243" cy="7315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937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</a:rPr>
              <a:t>主力净流出  248.13亿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394960"/>
            <a:ext cx="5303520" cy="73152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5394960"/>
            <a:ext cx="883920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486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</a:rPr>
              <a:t>北向净买入  50亿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03  热点板块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0B0FF"/>
                </a:solidFill>
              </a:rPr>
              <a:t>领涨 · 领跌 · 轮动逻辑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2194560" cy="34747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326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领涨板块 TOP5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371600"/>
          <a:ext cx="54864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板块</a:t>
                      </a:r>
                    </a:p>
                  </a:txBody>
                  <a:tcPr>
                    <a:solidFill>
                      <a:srgbClr val="005C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涨跌幅</a:t>
                      </a:r>
                    </a:p>
                  </a:txBody>
                  <a:tcPr>
                    <a:solidFill>
                      <a:srgbClr val="005C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主力净流入</a:t>
                      </a:r>
                    </a:p>
                  </a:txBody>
                  <a:tcPr>
                    <a:solidFill>
                      <a:srgbClr val="005C9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医药商业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E676"/>
                          </a:solidFill>
                        </a:rPr>
                        <a:t>+4.08%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E676"/>
                          </a:solidFill>
                        </a:rPr>
                        <a:t>+5.84亿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非金属材料</a:t>
                      </a:r>
                    </a:p>
                  </a:txBody>
                  <a:tcPr>
                    <a:solidFill>
                      <a:srgbClr val="1326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E676"/>
                          </a:solidFill>
                        </a:rPr>
                        <a:t>+2.53%</a:t>
                      </a:r>
                    </a:p>
                  </a:txBody>
                  <a:tcPr>
                    <a:solidFill>
                      <a:srgbClr val="1326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E676"/>
                          </a:solidFill>
                        </a:rPr>
                        <a:t>+6.79亿</a:t>
                      </a:r>
                    </a:p>
                  </a:txBody>
                  <a:tcPr>
                    <a:solidFill>
                      <a:srgbClr val="13265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电子元件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E676"/>
                          </a:solidFill>
                        </a:rPr>
                        <a:t>+1.61%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E676"/>
                          </a:solidFill>
                        </a:rPr>
                        <a:t>+6.68亿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煤炭</a:t>
                      </a:r>
                    </a:p>
                  </a:txBody>
                  <a:tcPr>
                    <a:solidFill>
                      <a:srgbClr val="1326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E676"/>
                          </a:solidFill>
                        </a:rPr>
                        <a:t>+1.40%</a:t>
                      </a:r>
                    </a:p>
                  </a:txBody>
                  <a:tcPr>
                    <a:solidFill>
                      <a:srgbClr val="1326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E676"/>
                          </a:solidFill>
                        </a:rPr>
                        <a:t>+4.64亿</a:t>
                      </a:r>
                    </a:p>
                  </a:txBody>
                  <a:tcPr>
                    <a:solidFill>
                      <a:srgbClr val="13265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有色金属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E676"/>
                          </a:solidFill>
                        </a:rPr>
                        <a:t>+1.21%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E676"/>
                          </a:solidFill>
                        </a:rPr>
                        <a:t>+7.85亿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0" y="914400"/>
            <a:ext cx="2194560" cy="34747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9326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领跌板块 TOP3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0" y="1371600"/>
          <a:ext cx="5486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8006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板块</a:t>
                      </a:r>
                    </a:p>
                  </a:txBody>
                  <a:tcPr>
                    <a:solidFill>
                      <a:srgbClr val="005C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涨跌幅</a:t>
                      </a:r>
                    </a:p>
                  </a:txBody>
                  <a:tcPr>
                    <a:solidFill>
                      <a:srgbClr val="005C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主力净流出</a:t>
                      </a:r>
                    </a:p>
                  </a:txBody>
                  <a:tcPr>
                    <a:solidFill>
                      <a:srgbClr val="005C9E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计算机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44336"/>
                          </a:solidFill>
                        </a:rPr>
                        <a:t>-1.63%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44336"/>
                          </a:solidFill>
                        </a:rPr>
                        <a:t>-110.98亿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传媒</a:t>
                      </a:r>
                    </a:p>
                  </a:txBody>
                  <a:tcPr>
                    <a:solidFill>
                      <a:srgbClr val="1326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44336"/>
                          </a:solidFill>
                        </a:rPr>
                        <a:t>-0.96%</a:t>
                      </a:r>
                    </a:p>
                  </a:txBody>
                  <a:tcPr>
                    <a:solidFill>
                      <a:srgbClr val="1326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132652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非银金融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44336"/>
                          </a:solidFill>
                        </a:rPr>
                        <a:t>-0.84%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44336"/>
                          </a:solidFill>
                        </a:rPr>
                        <a:t>-24.54亿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400800" y="3474720"/>
            <a:ext cx="2377440" cy="347472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49300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板块轮动逻辑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886200"/>
            <a:ext cx="5486400" cy="2103120"/>
          </a:xfrm>
          <a:prstGeom prst="rect">
            <a:avLst/>
          </a:prstGeom>
          <a:solidFill>
            <a:srgbClr val="13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3886200"/>
            <a:ext cx="5486400" cy="41148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9319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726"/>
                </a:solidFill>
              </a:rPr>
              <a:t>今日轮动特征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4389120"/>
            <a:ext cx="515721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B0BEC5"/>
                </a:solidFill>
              </a:rPr>
              <a:t>医药板块受政策利好推动，强势领涨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B0BEC5"/>
                </a:solidFill>
              </a:rPr>
              <a:t>资源板块（有色、煤炭）表现强势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B0BEC5"/>
                </a:solidFill>
              </a:rPr>
              <a:t>计算机科技板块调整，净流出巨大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B0BEC5"/>
                </a:solidFill>
              </a:rPr>
              <a:t>板块轮动符合市场规律，结构性机会突出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617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BEC5"/>
                </a:solidFill>
              </a:rPr>
              <a:t>医药商业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57400" y="4672584"/>
            <a:ext cx="3657600" cy="18288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57400" y="4672584"/>
            <a:ext cx="2984601" cy="1828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87721" y="46177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676"/>
                </a:solidFill>
              </a:rPr>
              <a:t>+4.08%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9286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BEC5"/>
                </a:solidFill>
              </a:rPr>
              <a:t>非金属材料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7400" y="4983480"/>
            <a:ext cx="3657600" cy="18288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57400" y="4983480"/>
            <a:ext cx="1850745" cy="1828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53865" y="492861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676"/>
                </a:solidFill>
              </a:rPr>
              <a:t>+2.53%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2395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BEC5"/>
                </a:solidFill>
              </a:rPr>
              <a:t>电子元件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57400" y="5294376"/>
            <a:ext cx="3657600" cy="18288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057400" y="5294376"/>
            <a:ext cx="1177747" cy="18288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80867" y="523951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0FF"/>
                </a:solidFill>
              </a:rPr>
              <a:t>+1.61%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5504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BEC5"/>
                </a:solidFill>
              </a:rPr>
              <a:t>煤炭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57400" y="5605272"/>
            <a:ext cx="3657600" cy="18288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57400" y="5605272"/>
            <a:ext cx="1024127" cy="18288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27247" y="555040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0FF"/>
                </a:solidFill>
              </a:rPr>
              <a:t>+1.4%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8613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BEC5"/>
                </a:solidFill>
              </a:rPr>
              <a:t>有色金属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57400" y="5916168"/>
            <a:ext cx="3657600" cy="18288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057400" y="5916168"/>
            <a:ext cx="885139" cy="18288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88259" y="586130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0FF"/>
                </a:solidFill>
              </a:rPr>
              <a:t>+1.21%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04  个股资金流向 TOP10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0B0FF"/>
                </a:solidFill>
              </a:rPr>
              <a:t>主力净流入最多个股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914400"/>
          <a:ext cx="73152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498763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排名</a:t>
                      </a:r>
                    </a:p>
                  </a:txBody>
                  <a:tcPr>
                    <a:solidFill>
                      <a:srgbClr val="005C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股票名称</a:t>
                      </a:r>
                    </a:p>
                  </a:txBody>
                  <a:tcPr>
                    <a:solidFill>
                      <a:srgbClr val="005C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主力净流入(亿元)</a:t>
                      </a:r>
                    </a:p>
                  </a:txBody>
                  <a:tcPr>
                    <a:solidFill>
                      <a:srgbClr val="005C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今日涨跌幅</a:t>
                      </a:r>
                    </a:p>
                  </a:txBody>
                  <a:tcPr>
                    <a:solidFill>
                      <a:srgbClr val="005C9E"/>
                    </a:solidFill>
                  </a:tcPr>
                </a:tc>
              </a:tr>
              <a:tr h="498763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洛阳钼业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+9.55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E676"/>
                          </a:solidFill>
                        </a:rPr>
                        <a:t>+8.62%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</a:tr>
              <a:tr h="498763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1326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创业慧康</a:t>
                      </a:r>
                    </a:p>
                  </a:txBody>
                  <a:tcPr>
                    <a:solidFill>
                      <a:srgbClr val="1326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+4.59</a:t>
                      </a:r>
                    </a:p>
                  </a:txBody>
                  <a:tcPr>
                    <a:solidFill>
                      <a:srgbClr val="1326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E676"/>
                          </a:solidFill>
                        </a:rPr>
                        <a:t>+20.03%</a:t>
                      </a:r>
                    </a:p>
                  </a:txBody>
                  <a:tcPr>
                    <a:solidFill>
                      <a:srgbClr val="132652"/>
                    </a:solidFill>
                  </a:tcPr>
                </a:tc>
              </a:tr>
              <a:tr h="498763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胜宏科技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+4.26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E676"/>
                          </a:solidFill>
                        </a:rPr>
                        <a:t>+8.58%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</a:tr>
              <a:tr h="498763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1326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寒武纪-U</a:t>
                      </a:r>
                    </a:p>
                  </a:txBody>
                  <a:tcPr>
                    <a:solidFill>
                      <a:srgbClr val="1326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+4.25</a:t>
                      </a:r>
                    </a:p>
                  </a:txBody>
                  <a:tcPr>
                    <a:solidFill>
                      <a:srgbClr val="1326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E676"/>
                          </a:solidFill>
                        </a:rPr>
                        <a:t>+3.87%</a:t>
                      </a:r>
                    </a:p>
                  </a:txBody>
                  <a:tcPr>
                    <a:solidFill>
                      <a:srgbClr val="132652"/>
                    </a:solidFill>
                  </a:tcPr>
                </a:tc>
              </a:tr>
              <a:tr h="498763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机器人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+3.82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E676"/>
                          </a:solidFill>
                        </a:rPr>
                        <a:t>+7.48%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</a:tr>
              <a:tr h="498763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1326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海立股份</a:t>
                      </a:r>
                    </a:p>
                  </a:txBody>
                  <a:tcPr>
                    <a:solidFill>
                      <a:srgbClr val="1326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+3.81</a:t>
                      </a:r>
                    </a:p>
                  </a:txBody>
                  <a:tcPr>
                    <a:solidFill>
                      <a:srgbClr val="1326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E676"/>
                          </a:solidFill>
                        </a:rPr>
                        <a:t>+10.00%</a:t>
                      </a:r>
                    </a:p>
                  </a:txBody>
                  <a:tcPr>
                    <a:solidFill>
                      <a:srgbClr val="132652"/>
                    </a:solidFill>
                  </a:tcPr>
                </a:tc>
              </a:tr>
              <a:tr h="498763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大位科技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+3.24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E676"/>
                          </a:solidFill>
                        </a:rPr>
                        <a:t>+10.04%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</a:tr>
              <a:tr h="498763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1326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海康威视</a:t>
                      </a:r>
                    </a:p>
                  </a:txBody>
                  <a:tcPr>
                    <a:solidFill>
                      <a:srgbClr val="1326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+3.15</a:t>
                      </a:r>
                    </a:p>
                  </a:txBody>
                  <a:tcPr>
                    <a:solidFill>
                      <a:srgbClr val="1326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E676"/>
                          </a:solidFill>
                        </a:rPr>
                        <a:t>+0.21%</a:t>
                      </a:r>
                    </a:p>
                  </a:txBody>
                  <a:tcPr>
                    <a:solidFill>
                      <a:srgbClr val="132652"/>
                    </a:solidFill>
                  </a:tcPr>
                </a:tc>
              </a:tr>
              <a:tr h="498763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三一重工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+3.10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E676"/>
                          </a:solidFill>
                        </a:rPr>
                        <a:t>+3.07%</a:t>
                      </a:r>
                    </a:p>
                  </a:txBody>
                  <a:tcPr>
                    <a:solidFill>
                      <a:srgbClr val="1A3060"/>
                    </a:solidFill>
                  </a:tcPr>
                </a:tc>
              </a:tr>
              <a:tr h="49877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1326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东方锆业</a:t>
                      </a:r>
                    </a:p>
                  </a:txBody>
                  <a:tcPr>
                    <a:solidFill>
                      <a:srgbClr val="1326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</a:rPr>
                        <a:t>+3.02</a:t>
                      </a:r>
                    </a:p>
                  </a:txBody>
                  <a:tcPr>
                    <a:solidFill>
                      <a:srgbClr val="1326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0E676"/>
                          </a:solidFill>
                        </a:rPr>
                        <a:t>+10.00%</a:t>
                      </a:r>
                    </a:p>
                  </a:txBody>
                  <a:tcPr>
                    <a:solidFill>
                      <a:srgbClr val="13265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914400"/>
            <a:ext cx="3931920" cy="1170432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55279" y="914400"/>
            <a:ext cx="54864" cy="117043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59" y="102412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洛阳钼业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9" y="102412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00E676"/>
                </a:solidFill>
              </a:rPr>
              <a:t>9.55亿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59" y="146304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</a:rPr>
              <a:t>资源板块龙头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2176272"/>
            <a:ext cx="3931920" cy="1170432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2176272"/>
            <a:ext cx="54864" cy="1170432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22860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创业慧康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79" y="228600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00B0FF"/>
                </a:solidFill>
              </a:rPr>
              <a:t>4.59亿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272491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</a:rPr>
              <a:t>医药+20%强势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3438144"/>
            <a:ext cx="3931920" cy="1170432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3438144"/>
            <a:ext cx="54864" cy="1170432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9" y="35478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寒武纪-U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79" y="354787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FFA726"/>
                </a:solidFill>
              </a:rPr>
              <a:t>4.25亿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59" y="398678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</a:rPr>
              <a:t>AI芯片长期主线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4700016"/>
            <a:ext cx="3931920" cy="1170432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55279" y="4700016"/>
            <a:ext cx="54864" cy="1170432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59" y="480974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机器人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79" y="4809744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00B0FF"/>
                </a:solidFill>
              </a:rPr>
              <a:t>3.82亿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59" y="524865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5"/>
                </a:solidFill>
              </a:rPr>
              <a:t>机器人概念活跃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05  市场分析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0B0FF"/>
                </a:solidFill>
              </a:rPr>
              <a:t>技术面 · 情绪面 · 四大特点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5486400" cy="256032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14400"/>
            <a:ext cx="5486400" cy="411480"/>
          </a:xfrm>
          <a:prstGeom prst="rect">
            <a:avLst/>
          </a:prstGeom>
          <a:solidFill>
            <a:srgbClr val="0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0FF"/>
                </a:solidFill>
              </a:rPr>
              <a:t>技术面分析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417320"/>
            <a:ext cx="5157216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B0BEC5"/>
                </a:solidFill>
              </a:rPr>
              <a:t>上证指数 3366 点，区间 3350-3370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B0BEC5"/>
                </a:solidFill>
              </a:rPr>
              <a:t>支撑位：20日均线 &amp; 3348缺口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B0BEC5"/>
                </a:solidFill>
              </a:rPr>
              <a:t>创业板 2200 点附近窄幅震荡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B0BEC5"/>
                </a:solidFill>
              </a:rPr>
              <a:t>成长股调整需求，蓝筹承接较强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B0BEC5"/>
                </a:solidFill>
              </a:rPr>
              <a:t>整体维持震荡整理，关注3350支撑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914400"/>
            <a:ext cx="5669280" cy="256032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914400"/>
            <a:ext cx="5669280" cy="411480"/>
          </a:xfrm>
          <a:prstGeom prst="rect">
            <a:avLst/>
          </a:prstGeom>
          <a:solidFill>
            <a:srgbClr val="0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9601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726"/>
                </a:solidFill>
              </a:rPr>
              <a:t>市场情绪分析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417320"/>
            <a:ext cx="5340096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B0BEC5"/>
                </a:solidFill>
              </a:rPr>
              <a:t>成交额缩量至 1.54万亿 (-3176亿)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B0BEC5"/>
                </a:solidFill>
              </a:rPr>
              <a:t>四连阳后进入技术性调整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B0BEC5"/>
                </a:solidFill>
              </a:rPr>
              <a:t>投资者观望情绪上升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B0BEC5"/>
                </a:solidFill>
              </a:rPr>
              <a:t>恐慌指数：适中 | 观望指数：偏高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B0BEC5"/>
                </a:solidFill>
              </a:rPr>
              <a:t>高位股分化，云鼎科技等跌停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57600"/>
            <a:ext cx="2560320" cy="36576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67588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今日市场四大特点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114800"/>
            <a:ext cx="2651760" cy="210312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4114800"/>
            <a:ext cx="2651760" cy="73152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2245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44336"/>
                </a:solidFill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2245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缩量整理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754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量能回落，观望升温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4114800"/>
            <a:ext cx="2651760" cy="210312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83280" y="4114800"/>
            <a:ext cx="2651760" cy="73152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42245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A726"/>
                </a:solidFill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40" y="42245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结构分化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4754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板块轮动，机会不均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114800"/>
            <a:ext cx="2651760" cy="210312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4114800"/>
            <a:ext cx="2651760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2245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E676"/>
                </a:solidFill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42245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热点轮动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754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医药资源强，科技调整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18320" y="4114800"/>
            <a:ext cx="2651760" cy="210312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18320" y="4114800"/>
            <a:ext cx="2651760" cy="73152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42245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0FF"/>
                </a:solidFill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42245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外资流入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4754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北向逆势，长期看好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06  后市展望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0B0FF"/>
                </a:solidFill>
              </a:rPr>
              <a:t>短期 · 中期 · 投资主线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5486400" cy="228600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14400"/>
            <a:ext cx="5486400" cy="41148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短期趋势（1-2周）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417320"/>
            <a:ext cx="515721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B0BEC5"/>
                </a:solidFill>
              </a:rPr>
              <a:t>震荡整理为主，3350-3370区间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B0BEC5"/>
                </a:solidFill>
              </a:rPr>
              <a:t>量能变化是关键信号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B0BEC5"/>
                </a:solidFill>
              </a:rPr>
              <a:t>关注3348跳空缺口支撑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B0BEC5"/>
                </a:solidFill>
              </a:rPr>
              <a:t>策略：观望为主，控制仓位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914400"/>
            <a:ext cx="5669280" cy="228600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914400"/>
            <a:ext cx="5669280" cy="4114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9601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中期趋势（3-6个月）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417320"/>
            <a:ext cx="534009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B0BEC5"/>
                </a:solidFill>
              </a:rPr>
              <a:t>政策面：两会后财政发力，降准降息预期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B0BEC5"/>
                </a:solidFill>
              </a:rPr>
              <a:t>基本面：经济复苏，企业盈利改善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B0BEC5"/>
                </a:solidFill>
              </a:rPr>
              <a:t>流动性：环境宽松，资金面充裕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B0BEC5"/>
                </a:solidFill>
              </a:rPr>
              <a:t>市场走势：稳步向上，结构性机会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83280"/>
            <a:ext cx="2194560" cy="36576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4015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四大投资主线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40480"/>
            <a:ext cx="2651760" cy="237744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840480"/>
            <a:ext cx="2651760" cy="64008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977640"/>
            <a:ext cx="411480" cy="41148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950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00507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医药板块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988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F"/>
                </a:solidFill>
              </a:rPr>
              <a:t>政策受益+人口老龄化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92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关注CXO、创新药、医疗器械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3840480"/>
            <a:ext cx="2651760" cy="237744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83280" y="3840480"/>
            <a:ext cx="2651760" cy="6400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20440" y="3977640"/>
            <a:ext cx="411480" cy="4114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40" y="3950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400507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资源板块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4988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E676"/>
                </a:solidFill>
              </a:rPr>
              <a:t>周期机会+供给侧改革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892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关注有色金属、煤炭、石油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840480"/>
            <a:ext cx="2651760" cy="237744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3840480"/>
            <a:ext cx="2651760" cy="64008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37960" y="3977640"/>
            <a:ext cx="411480" cy="41148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3950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00507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科技板块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44988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A726"/>
                </a:solidFill>
              </a:rPr>
              <a:t>调整后布局+AI突破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892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关注AI芯片、算力、软件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18320" y="3840480"/>
            <a:ext cx="2651760" cy="237744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18320" y="3840480"/>
            <a:ext cx="2651760" cy="64008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55480" y="3977640"/>
            <a:ext cx="411480" cy="4114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55480" y="3950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400507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新质生产力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55480" y="44988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4336"/>
                </a:solidFill>
              </a:rPr>
              <a:t>政策重点支持方向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55480" y="4892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关注机器人、低空经济、新材料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07  操作建议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0B0FF"/>
                </a:solidFill>
              </a:rPr>
              <a:t>短期 · 中期 · 长期策略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3566160" cy="438912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14400"/>
            <a:ext cx="3566160" cy="64008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987552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A726"/>
                </a:solidFill>
              </a:rPr>
              <a:t>短期策略</a:t>
            </a:r>
            <a:br/>
            <a:r>
              <a:t>（1-2周）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仓位控制在 60% 以内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8716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不追高，不杀跌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5409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关注 3350 点支撑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2102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把握结构性机会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879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等待量能放大信号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914400"/>
            <a:ext cx="3566160" cy="438912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914400"/>
            <a:ext cx="3566160" cy="6400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987552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E676"/>
                </a:solidFill>
              </a:rPr>
              <a:t>中期策略</a:t>
            </a:r>
            <a:br/>
            <a:r>
              <a:t>（3-6个月）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9202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精选优质标的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48716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关注基本面改善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05409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逢低布局核心资产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62102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耐心持有不频繁操作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1879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持仓周期：3-6个月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914400"/>
            <a:ext cx="3566160" cy="438912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914400"/>
            <a:ext cx="3566160" cy="64008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987552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0FF"/>
                </a:solidFill>
              </a:rPr>
              <a:t>长期策略</a:t>
            </a:r>
            <a:br/>
            <a:r>
              <a:t>（1-3年）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19202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坚持价值投资理念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48716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关注核心资产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05409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布局新质生产力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62102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分散配置降风险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1879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EC5"/>
                </a:solidFill>
              </a:rPr>
              <a:t>  享受长期复利增长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486400"/>
            <a:ext cx="2011680" cy="347472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50468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四大重点关注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943600"/>
            <a:ext cx="2743200" cy="64008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59893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0FF"/>
                </a:solidFill>
              </a:rPr>
              <a:t>量能变化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840" y="5943600"/>
            <a:ext cx="2743200" cy="64008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91840" y="59893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0FF"/>
                </a:solidFill>
              </a:rPr>
              <a:t>政策落地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5943600"/>
            <a:ext cx="2743200" cy="64008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59893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0FF"/>
                </a:solidFill>
              </a:rPr>
              <a:t>行业景气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5943600"/>
            <a:ext cx="2743200" cy="64008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0" y="59893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0FF"/>
                </a:solidFill>
              </a:rPr>
              <a:t>公司业绩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08  风险提示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0B0FF"/>
                </a:solidFill>
              </a:rPr>
              <a:t>五大风险 · 应对措施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1430000" cy="86868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02920" cy="8686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05840"/>
            <a:ext cx="502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0515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44336"/>
                </a:solidFill>
              </a:rPr>
              <a:t>市场风险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0515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震荡调整可能持续，指数回落压力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170432"/>
            <a:ext cx="3200400" cy="502920"/>
          </a:xfrm>
          <a:prstGeom prst="rect">
            <a:avLst/>
          </a:prstGeom>
          <a:solidFill>
            <a:srgbClr val="13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188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F"/>
                </a:solidFill>
              </a:rPr>
              <a:t>应对：控制仓位，分散投资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84248"/>
            <a:ext cx="11430000" cy="86868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984248"/>
            <a:ext cx="502920" cy="86868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984248"/>
            <a:ext cx="502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02996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A726"/>
                </a:solidFill>
              </a:rPr>
              <a:t>政策风险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02996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政策落地进度不及预期，预期落空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2148840"/>
            <a:ext cx="3200400" cy="502920"/>
          </a:xfrm>
          <a:prstGeom prst="rect">
            <a:avLst/>
          </a:prstGeom>
          <a:solidFill>
            <a:srgbClr val="13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1671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F"/>
                </a:solidFill>
              </a:rPr>
              <a:t>应对：密切关注政策动向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962656"/>
            <a:ext cx="11430000" cy="86868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962656"/>
            <a:ext cx="502920" cy="86868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962656"/>
            <a:ext cx="502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00837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A726"/>
                </a:solidFill>
              </a:rPr>
              <a:t>流动性风险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00837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税期临近（3月15日），资金面紧张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3127248"/>
            <a:ext cx="3200400" cy="502920"/>
          </a:xfrm>
          <a:prstGeom prst="rect">
            <a:avLst/>
          </a:prstGeom>
          <a:solidFill>
            <a:srgbClr val="13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314553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F"/>
                </a:solidFill>
              </a:rPr>
              <a:t>应对：保持适当现金储备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941064"/>
            <a:ext cx="11430000" cy="86868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941064"/>
            <a:ext cx="502920" cy="86868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941064"/>
            <a:ext cx="502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398678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A726"/>
                </a:solidFill>
              </a:rPr>
              <a:t>外围风险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398678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海外市场波动加剧，情绪传导影响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4105656"/>
            <a:ext cx="3200400" cy="502920"/>
          </a:xfrm>
          <a:prstGeom prst="rect">
            <a:avLst/>
          </a:prstGeom>
          <a:solidFill>
            <a:srgbClr val="13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412394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F"/>
                </a:solidFill>
              </a:rPr>
              <a:t>应对：关注外围市场变化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919472"/>
            <a:ext cx="11430000" cy="86868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4919472"/>
            <a:ext cx="502920" cy="8686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4919472"/>
            <a:ext cx="502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496519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44336"/>
                </a:solidFill>
              </a:rPr>
              <a:t>个股风险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496519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高位股分化明显，部分个股深度回调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0" y="5084064"/>
            <a:ext cx="3200400" cy="502920"/>
          </a:xfrm>
          <a:prstGeom prst="rect">
            <a:avLst/>
          </a:prstGeom>
          <a:solidFill>
            <a:srgbClr val="13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20" y="510235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0FF"/>
                </a:solidFill>
              </a:rPr>
              <a:t>应对：避免追高，严格止损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943600"/>
            <a:ext cx="11430000" cy="64008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5943600"/>
            <a:ext cx="73152" cy="6400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9893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A726"/>
                </a:solidFill>
              </a:rPr>
              <a:t>特别提醒：请严格执行止损纪律，单一持仓不超30%，保留不低于20%现金仓位！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09  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0B0FF"/>
                </a:solidFill>
              </a:rPr>
              <a:t>核心观点 · 数据回顾 · 投资建议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2194560" cy="347472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326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关键数据回顾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486400" cy="539496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20116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上证指数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371600"/>
            <a:ext cx="1645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3366.16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371600"/>
            <a:ext cx="13716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44336"/>
                </a:solidFill>
              </a:rPr>
              <a:t>-0.19%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56816"/>
            <a:ext cx="5486400" cy="539496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956816"/>
            <a:ext cx="20116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深证成指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1956816"/>
            <a:ext cx="1645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10825.70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956816"/>
            <a:ext cx="13716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44336"/>
                </a:solidFill>
              </a:rPr>
              <a:t>-0.17%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542032"/>
            <a:ext cx="5486400" cy="539496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542032"/>
            <a:ext cx="20116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创业板指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542032"/>
            <a:ext cx="1645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2199.88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542032"/>
            <a:ext cx="13716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44336"/>
                </a:solidFill>
              </a:rPr>
              <a:t>-0.25%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127248"/>
            <a:ext cx="5486400" cy="539496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127248"/>
            <a:ext cx="20116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成交额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3127248"/>
            <a:ext cx="1645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15057亿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127248"/>
            <a:ext cx="13716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A726"/>
                </a:solidFill>
              </a:rPr>
              <a:t>缩量3176亿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712464"/>
            <a:ext cx="5486400" cy="539496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12464"/>
            <a:ext cx="20116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上涨家数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3712464"/>
            <a:ext cx="1645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3279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712464"/>
            <a:ext cx="13716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00E676"/>
                </a:solidFill>
              </a:rPr>
              <a:t>+62.7%占比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297680"/>
            <a:ext cx="5486400" cy="539496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297680"/>
            <a:ext cx="20116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主力净流出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4297680"/>
            <a:ext cx="1645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248.13亿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4297680"/>
            <a:ext cx="13716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44336"/>
                </a:solidFill>
              </a:rPr>
              <a:t>大幅流出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882896"/>
            <a:ext cx="5486400" cy="539496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882896"/>
            <a:ext cx="20116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北向净买入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1760" y="4882896"/>
            <a:ext cx="1645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+50亿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4882896"/>
            <a:ext cx="13716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00E676"/>
                </a:solidFill>
              </a:rPr>
              <a:t>逆势流入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914400"/>
            <a:ext cx="1828800" cy="347472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93268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核心结论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1371600"/>
            <a:ext cx="5669280" cy="86868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1371600"/>
            <a:ext cx="54864" cy="86868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4264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A726"/>
                </a:solidFill>
              </a:rPr>
              <a:t>市场特征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17556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震荡整理，缩量观望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2377440"/>
            <a:ext cx="5669280" cy="86868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2377440"/>
            <a:ext cx="54864" cy="86868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24323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0FF"/>
                </a:solidFill>
              </a:rPr>
              <a:t>资金格局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276148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结构分化，北向逆势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3383280"/>
            <a:ext cx="5669280" cy="86868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17920" y="3383280"/>
            <a:ext cx="54864" cy="8686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343814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676"/>
                </a:solidFill>
              </a:rPr>
              <a:t>板块机会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376732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医药资源，把握轮动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4389120"/>
            <a:ext cx="5669280" cy="86868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17920" y="4389120"/>
            <a:ext cx="54864" cy="8686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444398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676"/>
                </a:solidFill>
              </a:rPr>
              <a:t>操作策略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47731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短期谨慎，中长期乐观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6217920"/>
            <a:ext cx="11430000" cy="45720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624535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EC5"/>
                </a:solidFill>
              </a:rPr>
              <a:t>免责声明：本报告仅供参考，不构成投资建议。股市有风险，投资需谨慎，请根据自身情况独立决策。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B0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91072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EC5"/>
                </a:solidFill>
              </a:rPr>
              <a:t>2025年3月10日  |  WorkBuddy AI  |  数据来源：新浪财经 / 东方财富 / 雪球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