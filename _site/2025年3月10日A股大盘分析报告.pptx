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1E3A8A"/>
                </a:solidFill>
              </a:defRPr>
            </a:pPr>
            <a:r>
              <a:t>2025年3月10日A股大盘分析报告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103628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3B82F6"/>
                </a:solidFill>
              </a:defRPr>
            </a:pPr>
            <a:r>
              <a:t>缩量整理 结构分化 北向逆势流入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029200"/>
            <a:ext cx="103628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>
                <a:solidFill>
                  <a:srgbClr val="6B7280"/>
                </a:solidFill>
              </a:defRPr>
            </a:pPr>
            <a:r>
              <a:t>2025年3月10日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669280"/>
            <a:ext cx="103628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6B7280"/>
                </a:solidFill>
              </a:defRPr>
            </a:pPr>
            <a:r>
              <a:t>制作: WorkBuddy 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3A8A"/>
                </a:solidFill>
              </a:defRPr>
            </a:pPr>
            <a:r>
              <a:t>目录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77295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1F2937"/>
                </a:solidFill>
              </a:defRPr>
            </a:pPr>
            <a:r>
              <a:t>1. 大盘概况</a:t>
            </a:r>
          </a:p>
          <a:p>
            <a:pPr>
              <a:spcAft>
                <a:spcPts val="1000"/>
              </a:spcAft>
              <a:defRPr sz="2200">
                <a:solidFill>
                  <a:srgbClr val="1F2937"/>
                </a:solidFill>
              </a:defRPr>
            </a:pPr>
            <a:r>
              <a:t>2. 资金流向</a:t>
            </a:r>
          </a:p>
          <a:p>
            <a:pPr>
              <a:spcAft>
                <a:spcPts val="1000"/>
              </a:spcAft>
              <a:defRPr sz="2200">
                <a:solidFill>
                  <a:srgbClr val="1F2937"/>
                </a:solidFill>
              </a:defRPr>
            </a:pPr>
            <a:r>
              <a:t>3. 热点板块</a:t>
            </a:r>
          </a:p>
          <a:p>
            <a:pPr>
              <a:spcAft>
                <a:spcPts val="1000"/>
              </a:spcAft>
              <a:defRPr sz="2200">
                <a:solidFill>
                  <a:srgbClr val="1F2937"/>
                </a:solidFill>
              </a:defRPr>
            </a:pPr>
            <a:r>
              <a:t>4. 个股资金流向TOP10</a:t>
            </a:r>
          </a:p>
          <a:p>
            <a:pPr>
              <a:spcAft>
                <a:spcPts val="1000"/>
              </a:spcAft>
              <a:defRPr sz="2200">
                <a:solidFill>
                  <a:srgbClr val="1F2937"/>
                </a:solidFill>
              </a:defRPr>
            </a:pPr>
            <a:r>
              <a:t>5. 市场分析</a:t>
            </a:r>
          </a:p>
          <a:p>
            <a:pPr>
              <a:spcAft>
                <a:spcPts val="1000"/>
              </a:spcAft>
              <a:defRPr sz="2200">
                <a:solidFill>
                  <a:srgbClr val="1F2937"/>
                </a:solidFill>
              </a:defRPr>
            </a:pPr>
            <a:r>
              <a:t>6. 后市展望</a:t>
            </a:r>
          </a:p>
          <a:p>
            <a:pPr>
              <a:spcAft>
                <a:spcPts val="1000"/>
              </a:spcAft>
              <a:defRPr sz="2200">
                <a:solidFill>
                  <a:srgbClr val="1F2937"/>
                </a:solidFill>
              </a:defRPr>
            </a:pPr>
            <a:r>
              <a:t>7. 操作建议</a:t>
            </a:r>
          </a:p>
          <a:p>
            <a:pPr>
              <a:spcAft>
                <a:spcPts val="1000"/>
              </a:spcAft>
              <a:defRPr sz="2200">
                <a:solidFill>
                  <a:srgbClr val="1F2937"/>
                </a:solidFill>
              </a:defRPr>
            </a:pPr>
            <a:r>
              <a:t>8. 风险提示</a:t>
            </a:r>
          </a:p>
          <a:p>
            <a:pPr>
              <a:spcAft>
                <a:spcPts val="1000"/>
              </a:spcAft>
              <a:defRPr sz="2200">
                <a:solidFill>
                  <a:srgbClr val="1F2937"/>
                </a:solidFill>
              </a:defRPr>
            </a:pPr>
            <a:r>
              <a:t>9. 总结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3A8A"/>
                </a:solidFill>
              </a:defRPr>
            </a:pPr>
            <a:r>
              <a:t>大盘概况 - 核心观点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77295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1F2937"/>
                </a:solidFill>
              </a:defRPr>
            </a:pPr>
            <a:r>
              <a:t>• 三大指数集体小幅收跌</a:t>
            </a:r>
          </a:p>
          <a:p>
            <a:pPr>
              <a:spcAft>
                <a:spcPts val="1000"/>
              </a:spcAft>
              <a:defRPr sz="2200">
                <a:solidFill>
                  <a:srgbClr val="1F2937"/>
                </a:solidFill>
              </a:defRPr>
            </a:pPr>
            <a:r>
              <a:t>• 结束四连阳走势,进入震荡整理</a:t>
            </a:r>
          </a:p>
          <a:p>
            <a:pPr>
              <a:spcAft>
                <a:spcPts val="1000"/>
              </a:spcAft>
              <a:defRPr sz="2200">
                <a:solidFill>
                  <a:srgbClr val="1F2937"/>
                </a:solidFill>
              </a:defRPr>
            </a:pPr>
            <a:r>
              <a:t>• 成交显著缩量,观望情绪升温</a:t>
            </a:r>
          </a:p>
          <a:p>
            <a:pPr>
              <a:spcAft>
                <a:spcPts val="1000"/>
              </a:spcAft>
              <a:defRPr sz="2200">
                <a:solidFill>
                  <a:srgbClr val="1F2937"/>
                </a:solidFill>
              </a:defRPr>
            </a:pPr>
            <a:r>
              <a:t>• 个股涨多跌少,结构性机会突出</a:t>
            </a:r>
          </a:p>
          <a:p>
            <a:pPr>
              <a:spcAft>
                <a:spcPts val="1000"/>
              </a:spcAft>
              <a:defRPr sz="2200">
                <a:solidFill>
                  <a:srgbClr val="1F2937"/>
                </a:solidFill>
              </a:defRPr>
            </a:pPr>
          </a:p>
          <a:p>
            <a:pPr>
              <a:spcAft>
                <a:spcPts val="1000"/>
              </a:spcAft>
              <a:defRPr sz="2200">
                <a:solidFill>
                  <a:srgbClr val="1F2937"/>
                </a:solidFill>
              </a:defRPr>
            </a:pPr>
            <a:r>
              <a:t>关键数据:</a:t>
            </a:r>
          </a:p>
          <a:p>
            <a:pPr>
              <a:spcAft>
                <a:spcPts val="1000"/>
              </a:spcAft>
              <a:defRPr sz="2200">
                <a:solidFill>
                  <a:srgbClr val="1F2937"/>
                </a:solidFill>
              </a:defRPr>
            </a:pPr>
            <a:r>
              <a:t>• 总成交额: 15057亿元 (↓3176亿元)</a:t>
            </a:r>
          </a:p>
          <a:p>
            <a:pPr>
              <a:spcAft>
                <a:spcPts val="1000"/>
              </a:spcAft>
              <a:defRPr sz="2200">
                <a:solidFill>
                  <a:srgbClr val="1F2937"/>
                </a:solidFill>
              </a:defRPr>
            </a:pPr>
            <a:r>
              <a:t>• 涨跌分布: 3279只上涨 vs 1950只下跌</a:t>
            </a:r>
          </a:p>
          <a:p>
            <a:pPr>
              <a:spcAft>
                <a:spcPts val="1000"/>
              </a:spcAft>
              <a:defRPr sz="2200">
                <a:solidFill>
                  <a:srgbClr val="1F2937"/>
                </a:solidFill>
              </a:defRPr>
            </a:pPr>
            <a:r>
              <a:t>• 上涨占比: 62.7%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3A8A"/>
                </a:solidFill>
              </a:defRPr>
            </a:pPr>
            <a:r>
              <a:t>大盘概况 - 指数表现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188720"/>
          <a:ext cx="11277295" cy="5212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9098"/>
                <a:gridCol w="3759098"/>
                <a:gridCol w="3759099"/>
              </a:tblGrid>
              <a:tr h="1042416">
                <a:tc>
                  <a:txBody>
                    <a:bodyPr/>
                    <a:lstStyle/>
                    <a:p>
                      <a:pPr>
                        <a:defRPr sz="2000" b="1">
                          <a:solidFill>
                            <a:srgbClr val="FFFFFF"/>
                          </a:solidFill>
                        </a:defRPr>
                      </a:pPr>
                      <a:r>
                        <a:t>指数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1">
                          <a:solidFill>
                            <a:srgbClr val="FFFFFF"/>
                          </a:solidFill>
                        </a:defRPr>
                      </a:pPr>
                      <a:r>
                        <a:t>收盘点位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1">
                          <a:solidFill>
                            <a:srgbClr val="FFFFFF"/>
                          </a:solidFill>
                        </a:defRPr>
                      </a:pPr>
                      <a:r>
                        <a:t>涨跌幅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</a:tr>
              <a:tr h="1042416"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1F2937"/>
                          </a:solidFill>
                        </a:defRPr>
                      </a:pPr>
                      <a:r>
                        <a:t>上证指数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1F2937"/>
                          </a:solidFill>
                        </a:defRPr>
                      </a:pPr>
                      <a:r>
                        <a:t>3366.16点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1F2937"/>
                          </a:solidFill>
                        </a:defRPr>
                      </a:pPr>
                      <a:r>
                        <a:t>-0.19% ⬇️</a:t>
                      </a:r>
                    </a:p>
                  </a:txBody>
                  <a:tcPr/>
                </a:tc>
              </a:tr>
              <a:tr h="1042416"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1F2937"/>
                          </a:solidFill>
                        </a:defRPr>
                      </a:pPr>
                      <a:r>
                        <a:t>深证成指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1F2937"/>
                          </a:solidFill>
                        </a:defRPr>
                      </a:pPr>
                      <a:r>
                        <a:t>10825.70点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1F2937"/>
                          </a:solidFill>
                        </a:defRPr>
                      </a:pPr>
                      <a:r>
                        <a:t>-0.17% ⬇️</a:t>
                      </a:r>
                    </a:p>
                  </a:txBody>
                  <a:tcPr/>
                </a:tc>
              </a:tr>
              <a:tr h="1042416"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1F2937"/>
                          </a:solidFill>
                        </a:defRPr>
                      </a:pPr>
                      <a:r>
                        <a:t>创业板指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1F2937"/>
                          </a:solidFill>
                        </a:defRPr>
                      </a:pPr>
                      <a:r>
                        <a:t>2199.88点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1F2937"/>
                          </a:solidFill>
                        </a:defRPr>
                      </a:pPr>
                      <a:r>
                        <a:t>-0.25% ⬇️</a:t>
                      </a:r>
                    </a:p>
                  </a:txBody>
                  <a:tcPr/>
                </a:tc>
              </a:tr>
              <a:tr h="1042416"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1F2937"/>
                          </a:solidFill>
                        </a:defRPr>
                      </a:pPr>
                      <a:r>
                        <a:t>沪深300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1F2937"/>
                          </a:solidFill>
                        </a:defRPr>
                      </a:pPr>
                      <a:r>
                        <a:t>3928点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1F2937"/>
                          </a:solidFill>
                        </a:defRPr>
                      </a:pPr>
                      <a:r>
                        <a:t>-0.39% ⬇️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3A8A"/>
                </a:solidFill>
              </a:defRPr>
            </a:pPr>
            <a:r>
              <a:t>资金流向 - 主力资金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188720"/>
          <a:ext cx="11277295" cy="5212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9098"/>
                <a:gridCol w="3759098"/>
                <a:gridCol w="3759099"/>
              </a:tblGrid>
              <a:tr h="868680">
                <a:tc>
                  <a:txBody>
                    <a:bodyPr/>
                    <a:lstStyle/>
                    <a:p>
                      <a:pPr>
                        <a:defRPr sz="2000" b="1">
                          <a:solidFill>
                            <a:srgbClr val="FFFFFF"/>
                          </a:solidFill>
                        </a:defRPr>
                      </a:pPr>
                      <a:r>
                        <a:t>资金类型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1">
                          <a:solidFill>
                            <a:srgbClr val="FFFFFF"/>
                          </a:solidFill>
                        </a:defRPr>
                      </a:pPr>
                      <a:r>
                        <a:t>流向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1">
                          <a:solidFill>
                            <a:srgbClr val="FFFFFF"/>
                          </a:solidFill>
                        </a:defRPr>
                      </a:pPr>
                      <a:r>
                        <a:t>金额(亿元)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1F2937"/>
                          </a:solidFill>
                        </a:defRPr>
                      </a:pPr>
                      <a:r>
                        <a:t>超大单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1F2937"/>
                          </a:solidFill>
                        </a:defRPr>
                      </a:pPr>
                      <a:r>
                        <a:t>净流出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1F2937"/>
                          </a:solidFill>
                        </a:defRPr>
                      </a:pPr>
                      <a:r>
                        <a:t>-167.27</a:t>
                      </a:r>
                    </a:p>
                  </a:txBody>
                  <a:tcPr/>
                </a:tc>
              </a:tr>
              <a:tr h="868680"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1F2937"/>
                          </a:solidFill>
                        </a:defRPr>
                      </a:pPr>
                      <a:r>
                        <a:t>大单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1F2937"/>
                          </a:solidFill>
                        </a:defRPr>
                      </a:pPr>
                      <a:r>
                        <a:t>净流出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1F2937"/>
                          </a:solidFill>
                        </a:defRPr>
                      </a:pPr>
                      <a:r>
                        <a:t>-101.38</a:t>
                      </a:r>
                    </a:p>
                  </a:txBody>
                  <a:tcPr/>
                </a:tc>
              </a:tr>
              <a:tr h="868680"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1F2937"/>
                          </a:solidFill>
                        </a:defRPr>
                      </a:pPr>
                      <a:r>
                        <a:t>中单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1F2937"/>
                          </a:solidFill>
                        </a:defRPr>
                      </a:pPr>
                      <a:r>
                        <a:t>净流入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10B981"/>
                          </a:solidFill>
                        </a:defRPr>
                      </a:pPr>
                      <a:r>
                        <a:t>+58.26</a:t>
                      </a:r>
                    </a:p>
                  </a:txBody>
                  <a:tcPr/>
                </a:tc>
              </a:tr>
              <a:tr h="868680"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1F2937"/>
                          </a:solidFill>
                        </a:defRPr>
                      </a:pPr>
                      <a:r>
                        <a:t>小单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1F2937"/>
                          </a:solidFill>
                        </a:defRPr>
                      </a:pPr>
                      <a:r>
                        <a:t>净流入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10B981"/>
                          </a:solidFill>
                        </a:defRPr>
                      </a:pPr>
                      <a:r>
                        <a:t>+210.38</a:t>
                      </a:r>
                    </a:p>
                  </a:txBody>
                  <a:tcPr/>
                </a:tc>
              </a:tr>
              <a:tr h="868680"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1F2937"/>
                          </a:solidFill>
                        </a:defRPr>
                      </a:pPr>
                      <a:r>
                        <a:t>合计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1F2937"/>
                          </a:solidFill>
                        </a:defRPr>
                      </a:pPr>
                      <a:r>
                        <a:t>净流出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1F2937"/>
                          </a:solidFill>
                        </a:defRPr>
                      </a:pPr>
                      <a:r>
                        <a:t>-248.13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3A8A"/>
                </a:solidFill>
              </a:defRPr>
            </a:pPr>
            <a:r>
              <a:t>资金流向 - 北向资金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77295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1F2937"/>
                </a:solidFill>
              </a:defRPr>
            </a:pPr>
            <a:r>
              <a:t>💰 净买入: +50亿元</a:t>
            </a:r>
          </a:p>
          <a:p>
            <a:pPr>
              <a:spcAft>
                <a:spcPts val="1000"/>
              </a:spcAft>
              <a:defRPr sz="2200">
                <a:solidFill>
                  <a:srgbClr val="1F2937"/>
                </a:solidFill>
              </a:defRPr>
            </a:pPr>
            <a:r>
              <a:t>📊 逆势净流入</a:t>
            </a:r>
          </a:p>
          <a:p>
            <a:pPr>
              <a:spcAft>
                <a:spcPts val="1000"/>
              </a:spcAft>
              <a:defRPr sz="2200">
                <a:solidFill>
                  <a:srgbClr val="1F2937"/>
                </a:solidFill>
              </a:defRPr>
            </a:pPr>
          </a:p>
          <a:p>
            <a:pPr>
              <a:spcAft>
                <a:spcPts val="1000"/>
              </a:spcAft>
              <a:defRPr sz="2200">
                <a:solidFill>
                  <a:srgbClr val="1F2937"/>
                </a:solidFill>
              </a:defRPr>
            </a:pPr>
            <a:r>
              <a:t>外资态度分析:</a:t>
            </a:r>
          </a:p>
          <a:p>
            <a:pPr>
              <a:spcAft>
                <a:spcPts val="1000"/>
              </a:spcAft>
              <a:defRPr sz="2200">
                <a:solidFill>
                  <a:srgbClr val="1F2937"/>
                </a:solidFill>
              </a:defRPr>
            </a:pPr>
            <a:r>
              <a:t>✅ 逆势净流入,显示外资看好</a:t>
            </a:r>
          </a:p>
          <a:p>
            <a:pPr>
              <a:spcAft>
                <a:spcPts val="1000"/>
              </a:spcAft>
              <a:defRPr sz="2200">
                <a:solidFill>
                  <a:srgbClr val="1F2937"/>
                </a:solidFill>
              </a:defRPr>
            </a:pPr>
            <a:r>
              <a:t>✅ 与主力资金流出形成对比</a:t>
            </a:r>
          </a:p>
          <a:p>
            <a:pPr>
              <a:spcAft>
                <a:spcPts val="1000"/>
              </a:spcAft>
              <a:defRPr sz="2200">
                <a:solidFill>
                  <a:srgbClr val="1F2937"/>
                </a:solidFill>
              </a:defRPr>
            </a:pPr>
            <a:r>
              <a:t>✅ 长期投资信心坚定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3A8A"/>
                </a:solidFill>
              </a:defRPr>
            </a:pPr>
            <a:r>
              <a:t>热点板块 - 领涨板块TOP5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188720"/>
          <a:ext cx="11277295" cy="5212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9323"/>
                <a:gridCol w="2819323"/>
                <a:gridCol w="2819323"/>
                <a:gridCol w="2819326"/>
              </a:tblGrid>
              <a:tr h="868680">
                <a:tc>
                  <a:txBody>
                    <a:bodyPr/>
                    <a:lstStyle/>
                    <a:p>
                      <a:pPr>
                        <a:defRPr sz="2000" b="1">
                          <a:solidFill>
                            <a:srgbClr val="FFFFFF"/>
                          </a:solidFill>
                        </a:defRPr>
                      </a:pPr>
                      <a:r>
                        <a:t>排名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1">
                          <a:solidFill>
                            <a:srgbClr val="FFFFFF"/>
                          </a:solidFill>
                        </a:defRPr>
                      </a:pPr>
                      <a:r>
                        <a:t>板块名称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1">
                          <a:solidFill>
                            <a:srgbClr val="FFFFFF"/>
                          </a:solidFill>
                        </a:defRPr>
                      </a:pPr>
                      <a:r>
                        <a:t>涨跌幅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1">
                          <a:solidFill>
                            <a:srgbClr val="FFFFFF"/>
                          </a:solidFill>
                        </a:defRPr>
                      </a:pPr>
                      <a:r>
                        <a:t>主力净流入(亿元)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1F2937"/>
                          </a:solidFill>
                        </a:defRPr>
                      </a:pPr>
                      <a:r>
                        <a:t>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1F2937"/>
                          </a:solidFill>
                        </a:defRPr>
                      </a:pPr>
                      <a:r>
                        <a:t>医药商业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10B981"/>
                          </a:solidFill>
                        </a:defRPr>
                      </a:pPr>
                      <a:r>
                        <a:t>+4.08%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10B981"/>
                          </a:solidFill>
                        </a:defRPr>
                      </a:pPr>
                      <a:r>
                        <a:t>+5.84</a:t>
                      </a:r>
                    </a:p>
                  </a:txBody>
                  <a:tcPr/>
                </a:tc>
              </a:tr>
              <a:tr h="868680"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1F2937"/>
                          </a:solidFill>
                        </a:defRPr>
                      </a:pPr>
                      <a:r>
                        <a:t>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1F2937"/>
                          </a:solidFill>
                        </a:defRPr>
                      </a:pPr>
                      <a:r>
                        <a:t>非金属材料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10B981"/>
                          </a:solidFill>
                        </a:defRPr>
                      </a:pPr>
                      <a:r>
                        <a:t>+2.53%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10B981"/>
                          </a:solidFill>
                        </a:defRPr>
                      </a:pPr>
                      <a:r>
                        <a:t>+6.79</a:t>
                      </a:r>
                    </a:p>
                  </a:txBody>
                  <a:tcPr/>
                </a:tc>
              </a:tr>
              <a:tr h="868680"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1F2937"/>
                          </a:solidFill>
                        </a:defRPr>
                      </a:pPr>
                      <a:r>
                        <a:t>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1F2937"/>
                          </a:solidFill>
                        </a:defRPr>
                      </a:pPr>
                      <a:r>
                        <a:t>电子元件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10B981"/>
                          </a:solidFill>
                        </a:defRPr>
                      </a:pPr>
                      <a:r>
                        <a:t>+1.61%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10B981"/>
                          </a:solidFill>
                        </a:defRPr>
                      </a:pPr>
                      <a:r>
                        <a:t>+6.68</a:t>
                      </a:r>
                    </a:p>
                  </a:txBody>
                  <a:tcPr/>
                </a:tc>
              </a:tr>
              <a:tr h="868680"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1F2937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1F2937"/>
                          </a:solidFill>
                        </a:defRPr>
                      </a:pPr>
                      <a:r>
                        <a:t>煤炭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10B981"/>
                          </a:solidFill>
                        </a:defRPr>
                      </a:pPr>
                      <a:r>
                        <a:t>+1.40%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10B981"/>
                          </a:solidFill>
                        </a:defRPr>
                      </a:pPr>
                      <a:r>
                        <a:t>+4.64</a:t>
                      </a:r>
                    </a:p>
                  </a:txBody>
                  <a:tcPr/>
                </a:tc>
              </a:tr>
              <a:tr h="868680"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1F2937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1F2937"/>
                          </a:solidFill>
                        </a:defRPr>
                      </a:pPr>
                      <a:r>
                        <a:t>有色金属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10B981"/>
                          </a:solidFill>
                        </a:defRPr>
                      </a:pPr>
                      <a:r>
                        <a:t>+1.21%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10B981"/>
                          </a:solidFill>
                        </a:defRPr>
                      </a:pPr>
                      <a:r>
                        <a:t>+7.85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3A8A"/>
                </a:solidFill>
              </a:defRPr>
            </a:pPr>
            <a:r>
              <a:t>热点板块 - 领跌板块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77295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1F2937"/>
                </a:solidFill>
              </a:defRPr>
            </a:pPr>
            <a:r>
              <a:t>领跌板块TOP3:</a:t>
            </a:r>
          </a:p>
          <a:p>
            <a:pPr>
              <a:spcAft>
                <a:spcPts val="1000"/>
              </a:spcAft>
              <a:defRPr sz="2200">
                <a:solidFill>
                  <a:srgbClr val="1F2937"/>
                </a:solidFill>
              </a:defRPr>
            </a:pPr>
          </a:p>
          <a:p>
            <a:pPr>
              <a:spcAft>
                <a:spcPts val="1000"/>
              </a:spcAft>
              <a:defRPr sz="2200">
                <a:solidFill>
                  <a:srgbClr val="1F2937"/>
                </a:solidFill>
              </a:defRPr>
            </a:pPr>
            <a:r>
              <a:t>⚠️ 计算机: -1.63% (净流出-110.98亿)</a:t>
            </a:r>
          </a:p>
          <a:p>
            <a:pPr>
              <a:spcAft>
                <a:spcPts val="1000"/>
              </a:spcAft>
              <a:defRPr sz="2200">
                <a:solidFill>
                  <a:srgbClr val="1F2937"/>
                </a:solidFill>
              </a:defRPr>
            </a:pPr>
            <a:r>
              <a:t>⚠️ 传媒: -0.96%</a:t>
            </a:r>
          </a:p>
          <a:p>
            <a:pPr>
              <a:spcAft>
                <a:spcPts val="1000"/>
              </a:spcAft>
              <a:defRPr sz="2200">
                <a:solidFill>
                  <a:srgbClr val="1F2937"/>
                </a:solidFill>
              </a:defRPr>
            </a:pPr>
            <a:r>
              <a:t>⚠️ 非银金融: -0.84% (净流出-24.54亿)</a:t>
            </a:r>
          </a:p>
          <a:p>
            <a:pPr>
              <a:spcAft>
                <a:spcPts val="1000"/>
              </a:spcAft>
              <a:defRPr sz="2200">
                <a:solidFill>
                  <a:srgbClr val="1F2937"/>
                </a:solidFill>
              </a:defRPr>
            </a:pPr>
          </a:p>
          <a:p>
            <a:pPr>
              <a:spcAft>
                <a:spcPts val="1000"/>
              </a:spcAft>
              <a:defRPr sz="2200">
                <a:solidFill>
                  <a:srgbClr val="1F2937"/>
                </a:solidFill>
              </a:defRPr>
            </a:pPr>
            <a:r>
              <a:t>板块轮动逻辑:</a:t>
            </a:r>
          </a:p>
          <a:p>
            <a:pPr>
              <a:spcAft>
                <a:spcPts val="1000"/>
              </a:spcAft>
              <a:defRPr sz="2200">
                <a:solidFill>
                  <a:srgbClr val="1F2937"/>
                </a:solidFill>
              </a:defRPr>
            </a:pPr>
            <a:r>
              <a:t>🔄 医药板块受政策利好推动</a:t>
            </a:r>
          </a:p>
          <a:p>
            <a:pPr>
              <a:spcAft>
                <a:spcPts val="1000"/>
              </a:spcAft>
              <a:defRPr sz="2200">
                <a:solidFill>
                  <a:srgbClr val="1F2937"/>
                </a:solidFill>
              </a:defRPr>
            </a:pPr>
            <a:r>
              <a:t>🔄 资源板块表现强势</a:t>
            </a:r>
          </a:p>
          <a:p>
            <a:pPr>
              <a:spcAft>
                <a:spcPts val="1000"/>
              </a:spcAft>
              <a:defRPr sz="2200">
                <a:solidFill>
                  <a:srgbClr val="1F2937"/>
                </a:solidFill>
              </a:defRPr>
            </a:pPr>
            <a:r>
              <a:t>🔄 科技板块调整明显</a:t>
            </a:r>
          </a:p>
          <a:p>
            <a:pPr>
              <a:spcAft>
                <a:spcPts val="1000"/>
              </a:spcAft>
              <a:defRPr sz="2200">
                <a:solidFill>
                  <a:srgbClr val="1F2937"/>
                </a:solidFill>
              </a:defRPr>
            </a:pPr>
            <a:r>
              <a:t>🔄 符合市场轮动逻辑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3A8A"/>
                </a:solidFill>
              </a:defRPr>
            </a:pPr>
            <a:r>
              <a:t>个股资金流向TOP10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188720"/>
          <a:ext cx="11277295" cy="5212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9323"/>
                <a:gridCol w="2819323"/>
                <a:gridCol w="2819323"/>
                <a:gridCol w="2819326"/>
              </a:tblGrid>
              <a:tr h="473825">
                <a:tc>
                  <a:txBody>
                    <a:bodyPr/>
                    <a:lstStyle/>
                    <a:p>
                      <a:pPr>
                        <a:defRPr sz="2000" b="1">
                          <a:solidFill>
                            <a:srgbClr val="FFFFFF"/>
                          </a:solidFill>
                        </a:defRPr>
                      </a:pPr>
                      <a:r>
                        <a:t>排名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1">
                          <a:solidFill>
                            <a:srgbClr val="FFFFFF"/>
                          </a:solidFill>
                        </a:defRPr>
                      </a:pPr>
                      <a:r>
                        <a:t>股票名称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1">
                          <a:solidFill>
                            <a:srgbClr val="FFFFFF"/>
                          </a:solidFill>
                        </a:defRPr>
                      </a:pPr>
                      <a:r>
                        <a:t>主力净流入(亿元)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1">
                          <a:solidFill>
                            <a:srgbClr val="FFFFFF"/>
                          </a:solidFill>
                        </a:defRPr>
                      </a:pPr>
                      <a:r>
                        <a:t>涨跌幅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</a:tr>
              <a:tr h="473825"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1F2937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1F2937"/>
                          </a:solidFill>
                        </a:defRPr>
                      </a:pPr>
                      <a:r>
                        <a:t>洛阳钼业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10B981"/>
                          </a:solidFill>
                        </a:defRPr>
                      </a:pPr>
                      <a:r>
                        <a:t>+9.55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10B981"/>
                          </a:solidFill>
                        </a:defRPr>
                      </a:pPr>
                      <a:r>
                        <a:t>+8.62%</a:t>
                      </a:r>
                    </a:p>
                  </a:txBody>
                  <a:tcPr/>
                </a:tc>
              </a:tr>
              <a:tr h="473825"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1F2937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1F2937"/>
                          </a:solidFill>
                        </a:defRPr>
                      </a:pPr>
                      <a:r>
                        <a:t>创业慧康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10B981"/>
                          </a:solidFill>
                        </a:defRPr>
                      </a:pPr>
                      <a:r>
                        <a:t>+4.59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10B981"/>
                          </a:solidFill>
                        </a:defRPr>
                      </a:pPr>
                      <a:r>
                        <a:t>+20.03%</a:t>
                      </a:r>
                    </a:p>
                  </a:txBody>
                  <a:tcPr/>
                </a:tc>
              </a:tr>
              <a:tr h="473825"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1F2937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1F2937"/>
                          </a:solidFill>
                        </a:defRPr>
                      </a:pPr>
                      <a:r>
                        <a:t>胜宏科技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10B981"/>
                          </a:solidFill>
                        </a:defRPr>
                      </a:pPr>
                      <a:r>
                        <a:t>+4.26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10B981"/>
                          </a:solidFill>
                        </a:defRPr>
                      </a:pPr>
                      <a:r>
                        <a:t>+8.58%</a:t>
                      </a:r>
                    </a:p>
                  </a:txBody>
                  <a:tcPr/>
                </a:tc>
              </a:tr>
              <a:tr h="473825"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1F2937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1F2937"/>
                          </a:solidFill>
                        </a:defRPr>
                      </a:pPr>
                      <a:r>
                        <a:t>寒武纪-U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10B981"/>
                          </a:solidFill>
                        </a:defRPr>
                      </a:pPr>
                      <a:r>
                        <a:t>+4.25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10B981"/>
                          </a:solidFill>
                        </a:defRPr>
                      </a:pPr>
                      <a:r>
                        <a:t>+3.87%</a:t>
                      </a:r>
                    </a:p>
                  </a:txBody>
                  <a:tcPr/>
                </a:tc>
              </a:tr>
              <a:tr h="473825"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1F2937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1F2937"/>
                          </a:solidFill>
                        </a:defRPr>
                      </a:pPr>
                      <a:r>
                        <a:t>机器人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10B981"/>
                          </a:solidFill>
                        </a:defRPr>
                      </a:pPr>
                      <a:r>
                        <a:t>+3.82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10B981"/>
                          </a:solidFill>
                        </a:defRPr>
                      </a:pPr>
                      <a:r>
                        <a:t>+7.48%</a:t>
                      </a:r>
                    </a:p>
                  </a:txBody>
                  <a:tcPr/>
                </a:tc>
              </a:tr>
              <a:tr h="473825"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1F2937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1F2937"/>
                          </a:solidFill>
                        </a:defRPr>
                      </a:pPr>
                      <a:r>
                        <a:t>海立股份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10B981"/>
                          </a:solidFill>
                        </a:defRPr>
                      </a:pPr>
                      <a:r>
                        <a:t>+3.81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10B981"/>
                          </a:solidFill>
                        </a:defRPr>
                      </a:pPr>
                      <a:r>
                        <a:t>+10.00%</a:t>
                      </a:r>
                    </a:p>
                  </a:txBody>
                  <a:tcPr/>
                </a:tc>
              </a:tr>
              <a:tr h="473825"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1F2937"/>
                          </a:solidFill>
                        </a:defRPr>
                      </a:pPr>
                      <a: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1F2937"/>
                          </a:solidFill>
                        </a:defRPr>
                      </a:pPr>
                      <a:r>
                        <a:t>大位科技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10B981"/>
                          </a:solidFill>
                        </a:defRPr>
                      </a:pPr>
                      <a:r>
                        <a:t>+3.24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10B981"/>
                          </a:solidFill>
                        </a:defRPr>
                      </a:pPr>
                      <a:r>
                        <a:t>+10.04%</a:t>
                      </a:r>
                    </a:p>
                  </a:txBody>
                  <a:tcPr/>
                </a:tc>
              </a:tr>
              <a:tr h="473825"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1F2937"/>
                          </a:solidFill>
                        </a:defRPr>
                      </a:pPr>
                      <a: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1F2937"/>
                          </a:solidFill>
                        </a:defRPr>
                      </a:pPr>
                      <a:r>
                        <a:t>海康威视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10B981"/>
                          </a:solidFill>
                        </a:defRPr>
                      </a:pPr>
                      <a:r>
                        <a:t>+3.15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10B981"/>
                          </a:solidFill>
                        </a:defRPr>
                      </a:pPr>
                      <a:r>
                        <a:t>+0.21%</a:t>
                      </a:r>
                    </a:p>
                  </a:txBody>
                  <a:tcPr/>
                </a:tc>
              </a:tr>
              <a:tr h="473825"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1F2937"/>
                          </a:solidFill>
                        </a:defRPr>
                      </a:pPr>
                      <a: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1F2937"/>
                          </a:solidFill>
                        </a:defRPr>
                      </a:pPr>
                      <a:r>
                        <a:t>三一重工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10B981"/>
                          </a:solidFill>
                        </a:defRPr>
                      </a:pPr>
                      <a:r>
                        <a:t>+3.10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10B981"/>
                          </a:solidFill>
                        </a:defRPr>
                      </a:pPr>
                      <a:r>
                        <a:t>+3.07%</a:t>
                      </a:r>
                    </a:p>
                  </a:txBody>
                  <a:tcPr/>
                </a:tc>
              </a:tr>
              <a:tr h="473830"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1F2937"/>
                          </a:solidFill>
                        </a:defRPr>
                      </a:pPr>
                      <a: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1F2937"/>
                          </a:solidFill>
                        </a:defRPr>
                      </a:pPr>
                      <a:r>
                        <a:t>东方锆业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10B981"/>
                          </a:solidFill>
                        </a:defRPr>
                      </a:pPr>
                      <a:r>
                        <a:t>+3.02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10B981"/>
                          </a:solidFill>
                        </a:defRPr>
                      </a:pPr>
                      <a:r>
                        <a:t>+10.00%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3A8A"/>
                </a:solidFill>
              </a:defRPr>
            </a:pPr>
            <a:r>
              <a:t>市场分析 - 技术面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539496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1F2937"/>
                </a:solidFill>
              </a:defRPr>
            </a:pPr>
            <a:r>
              <a:t>上证指数:</a:t>
            </a:r>
          </a:p>
          <a:p>
            <a:pPr>
              <a:spcAft>
                <a:spcPts val="1000"/>
              </a:spcAft>
              <a:defRPr sz="2200">
                <a:solidFill>
                  <a:srgbClr val="1F2937"/>
                </a:solidFill>
              </a:defRPr>
            </a:pPr>
            <a:r>
              <a:t>• 当前点位: 3366.16点</a:t>
            </a:r>
          </a:p>
          <a:p>
            <a:pPr>
              <a:spcAft>
                <a:spcPts val="1000"/>
              </a:spcAft>
              <a:defRPr sz="2200">
                <a:solidFill>
                  <a:srgbClr val="1F2937"/>
                </a:solidFill>
              </a:defRPr>
            </a:pPr>
            <a:r>
              <a:t>• 波动区间: 3350-3370点</a:t>
            </a:r>
          </a:p>
          <a:p>
            <a:pPr>
              <a:spcAft>
                <a:spcPts val="1000"/>
              </a:spcAft>
              <a:defRPr sz="2200">
                <a:solidFill>
                  <a:srgbClr val="1F2937"/>
                </a:solidFill>
              </a:defRPr>
            </a:pPr>
            <a:r>
              <a:t>• 支撑位: 20日均线</a:t>
            </a:r>
          </a:p>
          <a:p>
            <a:pPr>
              <a:spcAft>
                <a:spcPts val="1000"/>
              </a:spcAft>
              <a:defRPr sz="2200">
                <a:solidFill>
                  <a:srgbClr val="1F2937"/>
                </a:solidFill>
              </a:defRPr>
            </a:pPr>
            <a:r>
              <a:t>• 关键缺口: 3348点跳空缺口</a:t>
            </a:r>
          </a:p>
          <a:p>
            <a:pPr>
              <a:spcAft>
                <a:spcPts val="1000"/>
              </a:spcAft>
              <a:defRPr sz="2200">
                <a:solidFill>
                  <a:srgbClr val="1F2937"/>
                </a:solidFill>
              </a:defRPr>
            </a:pPr>
          </a:p>
          <a:p>
            <a:pPr>
              <a:spcAft>
                <a:spcPts val="1000"/>
              </a:spcAft>
              <a:defRPr sz="2200">
                <a:solidFill>
                  <a:srgbClr val="1F2937"/>
                </a:solidFill>
              </a:defRPr>
            </a:pPr>
            <a:r>
              <a:t>创业板指:</a:t>
            </a:r>
          </a:p>
          <a:p>
            <a:pPr>
              <a:spcAft>
                <a:spcPts val="1000"/>
              </a:spcAft>
              <a:defRPr sz="2200">
                <a:solidFill>
                  <a:srgbClr val="1F2937"/>
                </a:solidFill>
              </a:defRPr>
            </a:pPr>
            <a:r>
              <a:t>• 当前点位: 2199.88点</a:t>
            </a:r>
          </a:p>
          <a:p>
            <a:pPr>
              <a:spcAft>
                <a:spcPts val="1000"/>
              </a:spcAft>
              <a:defRPr sz="2200">
                <a:solidFill>
                  <a:srgbClr val="1F2937"/>
                </a:solidFill>
              </a:defRPr>
            </a:pPr>
            <a:r>
              <a:t>• 波动区间: 2180-2200点</a:t>
            </a:r>
          </a:p>
          <a:p>
            <a:pPr>
              <a:spcAft>
                <a:spcPts val="1000"/>
              </a:spcAft>
              <a:defRPr sz="2200">
                <a:solidFill>
                  <a:srgbClr val="1F2937"/>
                </a:solidFill>
              </a:defRPr>
            </a:pPr>
            <a:r>
              <a:t>• 走势: 窄幅震荡</a:t>
            </a:r>
          </a:p>
          <a:p>
            <a:pPr>
              <a:spcAft>
                <a:spcPts val="1000"/>
              </a:spcAft>
              <a:defRPr sz="2200">
                <a:solidFill>
                  <a:srgbClr val="1F2937"/>
                </a:solidFill>
              </a:defRPr>
            </a:pPr>
            <a:r>
              <a:t>• 状态: 缩量整理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0" y="1188720"/>
            <a:ext cx="539496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1F2937"/>
                </a:solidFill>
              </a:defRPr>
            </a:pPr>
            <a:r>
              <a:t>走势判断:</a:t>
            </a:r>
          </a:p>
          <a:p>
            <a:pPr>
              <a:spcAft>
                <a:spcPts val="1000"/>
              </a:spcAft>
              <a:defRPr sz="2200">
                <a:solidFill>
                  <a:srgbClr val="1F2937"/>
                </a:solidFill>
              </a:defRPr>
            </a:pPr>
          </a:p>
          <a:p>
            <a:pPr>
              <a:spcAft>
                <a:spcPts val="1000"/>
              </a:spcAft>
              <a:defRPr sz="2200">
                <a:solidFill>
                  <a:srgbClr val="1F2937"/>
                </a:solidFill>
              </a:defRPr>
            </a:pPr>
            <a:r>
              <a:t>• 成长股经过前期上涨后</a:t>
            </a:r>
          </a:p>
          <a:p>
            <a:pPr>
              <a:spcAft>
                <a:spcPts val="1000"/>
              </a:spcAft>
              <a:defRPr sz="2200">
                <a:solidFill>
                  <a:srgbClr val="1F2937"/>
                </a:solidFill>
              </a:defRPr>
            </a:pPr>
            <a:r>
              <a:t>  面临调整需求</a:t>
            </a:r>
          </a:p>
          <a:p>
            <a:pPr>
              <a:spcAft>
                <a:spcPts val="1000"/>
              </a:spcAft>
              <a:defRPr sz="2200">
                <a:solidFill>
                  <a:srgbClr val="1F2937"/>
                </a:solidFill>
              </a:defRPr>
            </a:pPr>
          </a:p>
          <a:p>
            <a:pPr>
              <a:spcAft>
                <a:spcPts val="1000"/>
              </a:spcAft>
              <a:defRPr sz="2200">
                <a:solidFill>
                  <a:srgbClr val="1F2937"/>
                </a:solidFill>
              </a:defRPr>
            </a:pPr>
            <a:r>
              <a:t>• 大盘蓝筹股在当前位置</a:t>
            </a:r>
          </a:p>
          <a:p>
            <a:pPr>
              <a:spcAft>
                <a:spcPts val="1000"/>
              </a:spcAft>
              <a:defRPr sz="2200">
                <a:solidFill>
                  <a:srgbClr val="1F2937"/>
                </a:solidFill>
              </a:defRPr>
            </a:pPr>
            <a:r>
              <a:t>  承接力度较强</a:t>
            </a:r>
          </a:p>
          <a:p>
            <a:pPr>
              <a:spcAft>
                <a:spcPts val="1000"/>
              </a:spcAft>
              <a:defRPr sz="2200">
                <a:solidFill>
                  <a:srgbClr val="1F2937"/>
                </a:solidFill>
              </a:defRPr>
            </a:pPr>
          </a:p>
          <a:p>
            <a:pPr>
              <a:spcAft>
                <a:spcPts val="1000"/>
              </a:spcAft>
              <a:defRPr sz="2200">
                <a:solidFill>
                  <a:srgbClr val="1F2937"/>
                </a:solidFill>
              </a:defRPr>
            </a:pPr>
            <a:r>
              <a:t>• 整体维持震荡整理态势</a:t>
            </a:r>
          </a:p>
          <a:p>
            <a:pPr>
              <a:spcAft>
                <a:spcPts val="1000"/>
              </a:spcAft>
              <a:defRPr sz="2200">
                <a:solidFill>
                  <a:srgbClr val="1F2937"/>
                </a:solidFill>
              </a:defRPr>
            </a:pPr>
          </a:p>
          <a:p>
            <a:pPr>
              <a:spcAft>
                <a:spcPts val="1000"/>
              </a:spcAft>
              <a:defRPr sz="2200">
                <a:solidFill>
                  <a:srgbClr val="1F2937"/>
                </a:solidFill>
              </a:defRPr>
            </a:pPr>
            <a:r>
              <a:t>• 关注3350点支撑有效性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3A8A"/>
                </a:solidFill>
              </a:defRPr>
            </a:pPr>
            <a:r>
              <a:t>市场分析 - 市场情绪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77295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1F2937"/>
                </a:solidFill>
              </a:defRPr>
            </a:pPr>
            <a:r>
              <a:t>缩量调整特征:</a:t>
            </a:r>
          </a:p>
          <a:p>
            <a:pPr>
              <a:spcAft>
                <a:spcPts val="1000"/>
              </a:spcAft>
              <a:defRPr sz="2200">
                <a:solidFill>
                  <a:srgbClr val="1F2937"/>
                </a:solidFill>
              </a:defRPr>
            </a:pPr>
            <a:r>
              <a:t>📉 成交额缩量至1.54万亿元</a:t>
            </a:r>
          </a:p>
          <a:p>
            <a:pPr>
              <a:spcAft>
                <a:spcPts val="1000"/>
              </a:spcAft>
              <a:defRPr sz="2200">
                <a:solidFill>
                  <a:srgbClr val="1F2937"/>
                </a:solidFill>
              </a:defRPr>
            </a:pPr>
            <a:r>
              <a:t>📉 较上一日缩量3176亿元</a:t>
            </a:r>
          </a:p>
          <a:p>
            <a:pPr>
              <a:spcAft>
                <a:spcPts val="1000"/>
              </a:spcAft>
              <a:defRPr sz="2200">
                <a:solidFill>
                  <a:srgbClr val="1F2937"/>
                </a:solidFill>
              </a:defRPr>
            </a:pPr>
            <a:r>
              <a:t>🎯 市场交投情绪趋于谨慎</a:t>
            </a:r>
          </a:p>
          <a:p>
            <a:pPr>
              <a:spcAft>
                <a:spcPts val="1000"/>
              </a:spcAft>
              <a:defRPr sz="2200">
                <a:solidFill>
                  <a:srgbClr val="1F2937"/>
                </a:solidFill>
              </a:defRPr>
            </a:pPr>
          </a:p>
          <a:p>
            <a:pPr>
              <a:spcAft>
                <a:spcPts val="1000"/>
              </a:spcAft>
              <a:defRPr sz="2200">
                <a:solidFill>
                  <a:srgbClr val="1F2937"/>
                </a:solidFill>
              </a:defRPr>
            </a:pPr>
            <a:r>
              <a:t>四连阳后的调整:</a:t>
            </a:r>
          </a:p>
          <a:p>
            <a:pPr>
              <a:spcAft>
                <a:spcPts val="1000"/>
              </a:spcAft>
              <a:defRPr sz="2200">
                <a:solidFill>
                  <a:srgbClr val="1F2937"/>
                </a:solidFill>
              </a:defRPr>
            </a:pPr>
            <a:r>
              <a:t>🔍 技术性调整需求</a:t>
            </a:r>
          </a:p>
          <a:p>
            <a:pPr>
              <a:spcAft>
                <a:spcPts val="1000"/>
              </a:spcAft>
              <a:defRPr sz="2200">
                <a:solidFill>
                  <a:srgbClr val="1F2937"/>
                </a:solidFill>
              </a:defRPr>
            </a:pPr>
            <a:r>
              <a:t>🔍 投资者观望情绪上升</a:t>
            </a:r>
          </a:p>
          <a:p>
            <a:pPr>
              <a:spcAft>
                <a:spcPts val="1000"/>
              </a:spcAft>
              <a:defRPr sz="2200">
                <a:solidFill>
                  <a:srgbClr val="1F2937"/>
                </a:solidFill>
              </a:defRPr>
            </a:pPr>
            <a:r>
              <a:t>🔍 高位股分化明显</a:t>
            </a:r>
          </a:p>
          <a:p>
            <a:pPr>
              <a:spcAft>
                <a:spcPts val="1000"/>
              </a:spcAft>
              <a:defRPr sz="2200">
                <a:solidFill>
                  <a:srgbClr val="1F2937"/>
                </a:solidFill>
              </a:defRPr>
            </a:pPr>
          </a:p>
          <a:p>
            <a:pPr>
              <a:spcAft>
                <a:spcPts val="1000"/>
              </a:spcAft>
              <a:defRPr sz="2200">
                <a:solidFill>
                  <a:srgbClr val="1F2937"/>
                </a:solidFill>
              </a:defRPr>
            </a:pPr>
            <a:r>
              <a:t>市场情绪指标:</a:t>
            </a:r>
          </a:p>
          <a:p>
            <a:pPr>
              <a:spcAft>
                <a:spcPts val="1000"/>
              </a:spcAft>
              <a:defRPr sz="2200">
                <a:solidFill>
                  <a:srgbClr val="1F2937"/>
                </a:solidFill>
              </a:defRPr>
            </a:pPr>
            <a:r>
              <a:t>• 恐慌指数: 适中</a:t>
            </a:r>
          </a:p>
          <a:p>
            <a:pPr>
              <a:spcAft>
                <a:spcPts val="1000"/>
              </a:spcAft>
              <a:defRPr sz="2200">
                <a:solidFill>
                  <a:srgbClr val="1F2937"/>
                </a:solidFill>
              </a:defRPr>
            </a:pPr>
            <a:r>
              <a:t>• 贪婪指数: 中性</a:t>
            </a:r>
          </a:p>
          <a:p>
            <a:pPr>
              <a:spcAft>
                <a:spcPts val="1000"/>
              </a:spcAft>
              <a:defRPr sz="2200">
                <a:solidFill>
                  <a:srgbClr val="1F2937"/>
                </a:solidFill>
              </a:defRPr>
            </a:pPr>
            <a:r>
              <a:t>• 观望指数: 偏高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3A8A"/>
                </a:solidFill>
              </a:defRPr>
            </a:pPr>
            <a:r>
              <a:t>市场分析 - 今日市场四大特点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77295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1500"/>
              </a:spcAft>
              <a:defRPr sz="2200">
                <a:solidFill>
                  <a:srgbClr val="1F2937"/>
                </a:solidFill>
              </a:defRPr>
            </a:pPr>
            <a:r>
              <a:t>1️⃣ 缩量整理 - 量能回落,观望升温</a:t>
            </a:r>
          </a:p>
          <a:p>
            <a:pPr>
              <a:lnSpc>
                <a:spcPct val="150000"/>
              </a:lnSpc>
              <a:spcAft>
                <a:spcPts val="1500"/>
              </a:spcAft>
              <a:defRPr sz="2200">
                <a:solidFill>
                  <a:srgbClr val="1F2937"/>
                </a:solidFill>
              </a:defRPr>
            </a:pPr>
            <a:r>
              <a:t>2️⃣ 结构分化 - 板块轮动,机会不均</a:t>
            </a:r>
          </a:p>
          <a:p>
            <a:pPr>
              <a:lnSpc>
                <a:spcPct val="150000"/>
              </a:lnSpc>
              <a:spcAft>
                <a:spcPts val="1500"/>
              </a:spcAft>
              <a:defRPr sz="2200">
                <a:solidFill>
                  <a:srgbClr val="1F2937"/>
                </a:solidFill>
              </a:defRPr>
            </a:pPr>
            <a:r>
              <a:t>3️⃣ 热点轮动 - 医药资源,科技调整</a:t>
            </a:r>
          </a:p>
          <a:p>
            <a:pPr>
              <a:lnSpc>
                <a:spcPct val="150000"/>
              </a:lnSpc>
              <a:spcAft>
                <a:spcPts val="1500"/>
              </a:spcAft>
              <a:defRPr sz="2200">
                <a:solidFill>
                  <a:srgbClr val="1F2937"/>
                </a:solidFill>
              </a:defRPr>
            </a:pPr>
            <a:r>
              <a:t>4️⃣ 外资流入 - 北向逆势,长期看好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3A8A"/>
                </a:solidFill>
              </a:defRPr>
            </a:pPr>
            <a:r>
              <a:t>后市展望 - 短期趋势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77295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1F2937"/>
                </a:solidFill>
              </a:defRPr>
            </a:pPr>
            <a:r>
              <a:t>市场走势:</a:t>
            </a:r>
          </a:p>
          <a:p>
            <a:pPr>
              <a:spcAft>
                <a:spcPts val="1000"/>
              </a:spcAft>
              <a:defRPr sz="2200">
                <a:solidFill>
                  <a:srgbClr val="1F2937"/>
                </a:solidFill>
              </a:defRPr>
            </a:pPr>
            <a:r>
              <a:t>📈 震荡整理为主</a:t>
            </a:r>
          </a:p>
          <a:p>
            <a:pPr>
              <a:spcAft>
                <a:spcPts val="1000"/>
              </a:spcAft>
              <a:defRPr sz="2200">
                <a:solidFill>
                  <a:srgbClr val="1F2937"/>
                </a:solidFill>
              </a:defRPr>
            </a:pPr>
            <a:r>
              <a:t>📈 区间: 3350-3370点</a:t>
            </a:r>
          </a:p>
          <a:p>
            <a:pPr>
              <a:spcAft>
                <a:spcPts val="1000"/>
              </a:spcAft>
              <a:defRPr sz="2200">
                <a:solidFill>
                  <a:srgbClr val="1F2937"/>
                </a:solidFill>
              </a:defRPr>
            </a:pPr>
            <a:r>
              <a:t>📈 方向: 横盘震荡</a:t>
            </a:r>
          </a:p>
          <a:p>
            <a:pPr>
              <a:spcAft>
                <a:spcPts val="1000"/>
              </a:spcAft>
              <a:defRPr sz="2200">
                <a:solidFill>
                  <a:srgbClr val="1F2937"/>
                </a:solidFill>
              </a:defRPr>
            </a:pPr>
          </a:p>
          <a:p>
            <a:pPr>
              <a:spcAft>
                <a:spcPts val="1000"/>
              </a:spcAft>
              <a:defRPr sz="2200">
                <a:solidFill>
                  <a:srgbClr val="1F2937"/>
                </a:solidFill>
              </a:defRPr>
            </a:pPr>
            <a:r>
              <a:t>关键因素:</a:t>
            </a:r>
          </a:p>
          <a:p>
            <a:pPr>
              <a:spcAft>
                <a:spcPts val="1000"/>
              </a:spcAft>
              <a:defRPr sz="2200">
                <a:solidFill>
                  <a:srgbClr val="1F2937"/>
                </a:solidFill>
              </a:defRPr>
            </a:pPr>
            <a:r>
              <a:t>🔍 量能变化是关键</a:t>
            </a:r>
          </a:p>
          <a:p>
            <a:pPr>
              <a:spcAft>
                <a:spcPts val="1000"/>
              </a:spcAft>
              <a:defRPr sz="2200">
                <a:solidFill>
                  <a:srgbClr val="1F2937"/>
                </a:solidFill>
              </a:defRPr>
            </a:pPr>
            <a:r>
              <a:t>🔍 关注支撑位有效性</a:t>
            </a:r>
          </a:p>
          <a:p>
            <a:pPr>
              <a:spcAft>
                <a:spcPts val="1000"/>
              </a:spcAft>
              <a:defRPr sz="2200">
                <a:solidFill>
                  <a:srgbClr val="1F2937"/>
                </a:solidFill>
              </a:defRPr>
            </a:pPr>
            <a:r>
              <a:t>🔍 观望情绪能否改善</a:t>
            </a:r>
          </a:p>
          <a:p>
            <a:pPr>
              <a:spcAft>
                <a:spcPts val="1000"/>
              </a:spcAft>
              <a:defRPr sz="2200">
                <a:solidFill>
                  <a:srgbClr val="1F2937"/>
                </a:solidFill>
              </a:defRPr>
            </a:pPr>
          </a:p>
          <a:p>
            <a:pPr>
              <a:spcAft>
                <a:spcPts val="1000"/>
              </a:spcAft>
              <a:defRPr sz="2200">
                <a:solidFill>
                  <a:srgbClr val="1F2937"/>
                </a:solidFill>
              </a:defRPr>
            </a:pPr>
            <a:r>
              <a:t>操作建议:</a:t>
            </a:r>
          </a:p>
          <a:p>
            <a:pPr>
              <a:spcAft>
                <a:spcPts val="1000"/>
              </a:spcAft>
              <a:defRPr sz="2200">
                <a:solidFill>
                  <a:srgbClr val="1F2937"/>
                </a:solidFill>
              </a:defRPr>
            </a:pPr>
            <a:r>
              <a:t>⏸️ 观望为主,谨慎操作</a:t>
            </a:r>
          </a:p>
          <a:p>
            <a:pPr>
              <a:spcAft>
                <a:spcPts val="1000"/>
              </a:spcAft>
              <a:defRPr sz="2200">
                <a:solidFill>
                  <a:srgbClr val="1F2937"/>
                </a:solidFill>
              </a:defRPr>
            </a:pPr>
            <a:r>
              <a:t>⏸️ 控制仓位,不宜激进</a:t>
            </a:r>
          </a:p>
          <a:p>
            <a:pPr>
              <a:spcAft>
                <a:spcPts val="1000"/>
              </a:spcAft>
              <a:defRPr sz="2200">
                <a:solidFill>
                  <a:srgbClr val="1F2937"/>
                </a:solidFill>
              </a:defRPr>
            </a:pPr>
            <a:r>
              <a:t>⏸️ 等待量能放大信号</a:t>
            </a:r>
          </a:p>
          <a:p>
            <a:pPr>
              <a:spcAft>
                <a:spcPts val="1000"/>
              </a:spcAft>
              <a:defRPr sz="2200">
                <a:solidFill>
                  <a:srgbClr val="1F2937"/>
                </a:solidFill>
              </a:defRPr>
            </a:pPr>
          </a:p>
          <a:p>
            <a:pPr>
              <a:spcAft>
                <a:spcPts val="1000"/>
              </a:spcAft>
              <a:defRPr sz="2200">
                <a:solidFill>
                  <a:srgbClr val="1F2937"/>
                </a:solidFill>
              </a:defRPr>
            </a:pPr>
            <a:r>
              <a:t>时间周期: 未来1-2周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3A8A"/>
                </a:solidFill>
              </a:defRPr>
            </a:pPr>
            <a:r>
              <a:t>后市展望 - 中期趋势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77295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1F2937"/>
                </a:solidFill>
              </a:defRPr>
            </a:pPr>
            <a:r>
              <a:t>政策面:</a:t>
            </a:r>
          </a:p>
          <a:p>
            <a:pPr>
              <a:spcAft>
                <a:spcPts val="1000"/>
              </a:spcAft>
              <a:defRPr sz="2200">
                <a:solidFill>
                  <a:srgbClr val="1F2937"/>
                </a:solidFill>
              </a:defRPr>
            </a:pPr>
            <a:r>
              <a:t>✅ 两会后财政发力预期</a:t>
            </a:r>
          </a:p>
          <a:p>
            <a:pPr>
              <a:spcAft>
                <a:spcPts val="1000"/>
              </a:spcAft>
              <a:defRPr sz="2200">
                <a:solidFill>
                  <a:srgbClr val="1F2937"/>
                </a:solidFill>
              </a:defRPr>
            </a:pPr>
            <a:r>
              <a:t>✅ 适时降准降息政策</a:t>
            </a:r>
          </a:p>
          <a:p>
            <a:pPr>
              <a:spcAft>
                <a:spcPts val="1000"/>
              </a:spcAft>
              <a:defRPr sz="2200">
                <a:solidFill>
                  <a:srgbClr val="1F2937"/>
                </a:solidFill>
              </a:defRPr>
            </a:pPr>
            <a:r>
              <a:t>✅ 产业政策支持</a:t>
            </a:r>
          </a:p>
          <a:p>
            <a:pPr>
              <a:spcAft>
                <a:spcPts val="1000"/>
              </a:spcAft>
              <a:defRPr sz="2200">
                <a:solidFill>
                  <a:srgbClr val="1F2937"/>
                </a:solidFill>
              </a:defRPr>
            </a:pPr>
          </a:p>
          <a:p>
            <a:pPr>
              <a:spcAft>
                <a:spcPts val="1000"/>
              </a:spcAft>
              <a:defRPr sz="2200">
                <a:solidFill>
                  <a:srgbClr val="1F2937"/>
                </a:solidFill>
              </a:defRPr>
            </a:pPr>
            <a:r>
              <a:t>基本面:</a:t>
            </a:r>
          </a:p>
          <a:p>
            <a:pPr>
              <a:spcAft>
                <a:spcPts val="1000"/>
              </a:spcAft>
              <a:defRPr sz="2200">
                <a:solidFill>
                  <a:srgbClr val="1F2937"/>
                </a:solidFill>
              </a:defRPr>
            </a:pPr>
            <a:r>
              <a:t>✅ 经济复苏趋势确立</a:t>
            </a:r>
          </a:p>
          <a:p>
            <a:pPr>
              <a:spcAft>
                <a:spcPts val="1000"/>
              </a:spcAft>
              <a:defRPr sz="2200">
                <a:solidFill>
                  <a:srgbClr val="1F2937"/>
                </a:solidFill>
              </a:defRPr>
            </a:pPr>
            <a:r>
              <a:t>✅ 企业盈利改善</a:t>
            </a:r>
          </a:p>
          <a:p>
            <a:pPr>
              <a:spcAft>
                <a:spcPts val="1000"/>
              </a:spcAft>
              <a:defRPr sz="2200">
                <a:solidFill>
                  <a:srgbClr val="1F2937"/>
                </a:solidFill>
              </a:defRPr>
            </a:pPr>
            <a:r>
              <a:t>✅ 消费回暖</a:t>
            </a:r>
          </a:p>
          <a:p>
            <a:pPr>
              <a:spcAft>
                <a:spcPts val="1000"/>
              </a:spcAft>
              <a:defRPr sz="2200">
                <a:solidFill>
                  <a:srgbClr val="1F2937"/>
                </a:solidFill>
              </a:defRPr>
            </a:pPr>
          </a:p>
          <a:p>
            <a:pPr>
              <a:spcAft>
                <a:spcPts val="1000"/>
              </a:spcAft>
              <a:defRPr sz="2200">
                <a:solidFill>
                  <a:srgbClr val="1F2937"/>
                </a:solidFill>
              </a:defRPr>
            </a:pPr>
            <a:r>
              <a:t>流动性:</a:t>
            </a:r>
          </a:p>
          <a:p>
            <a:pPr>
              <a:spcAft>
                <a:spcPts val="1000"/>
              </a:spcAft>
              <a:defRPr sz="2200">
                <a:solidFill>
                  <a:srgbClr val="1F2937"/>
                </a:solidFill>
              </a:defRPr>
            </a:pPr>
            <a:r>
              <a:t>✅ 流动性环境宽松</a:t>
            </a:r>
          </a:p>
          <a:p>
            <a:pPr>
              <a:spcAft>
                <a:spcPts val="1000"/>
              </a:spcAft>
              <a:defRPr sz="2200">
                <a:solidFill>
                  <a:srgbClr val="1F2937"/>
                </a:solidFill>
              </a:defRPr>
            </a:pPr>
            <a:r>
              <a:t>✅ 资金面相对充裕</a:t>
            </a:r>
          </a:p>
          <a:p>
            <a:pPr>
              <a:spcAft>
                <a:spcPts val="1000"/>
              </a:spcAft>
              <a:defRPr sz="2200">
                <a:solidFill>
                  <a:srgbClr val="1F2937"/>
                </a:solidFill>
              </a:defRPr>
            </a:pPr>
            <a:r>
              <a:t>✅ 融资环境改善</a:t>
            </a:r>
          </a:p>
          <a:p>
            <a:pPr>
              <a:spcAft>
                <a:spcPts val="1000"/>
              </a:spcAft>
              <a:defRPr sz="2200">
                <a:solidFill>
                  <a:srgbClr val="1F2937"/>
                </a:solidFill>
              </a:defRPr>
            </a:pPr>
          </a:p>
          <a:p>
            <a:pPr>
              <a:spcAft>
                <a:spcPts val="1000"/>
              </a:spcAft>
              <a:defRPr sz="2200">
                <a:solidFill>
                  <a:srgbClr val="1F2937"/>
                </a:solidFill>
              </a:defRPr>
            </a:pPr>
            <a:r>
              <a:t>市场走势: 稳步向上,结构性机会</a:t>
            </a:r>
          </a:p>
          <a:p>
            <a:pPr>
              <a:spcAft>
                <a:spcPts val="1000"/>
              </a:spcAft>
              <a:defRPr sz="2200">
                <a:solidFill>
                  <a:srgbClr val="1F2937"/>
                </a:solidFill>
              </a:defRPr>
            </a:pPr>
            <a:r>
              <a:t>时间周期: 未来3-6个月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3A8A"/>
                </a:solidFill>
              </a:defRPr>
            </a:pPr>
            <a:r>
              <a:t>后市展望 - 四大投资主线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77295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1F2937"/>
                </a:solidFill>
              </a:defRPr>
            </a:pPr>
            <a:r>
              <a:t>🏥 主线一: 医药板块</a:t>
            </a:r>
          </a:p>
          <a:p>
            <a:pPr>
              <a:spcAft>
                <a:spcPts val="1000"/>
              </a:spcAft>
              <a:defRPr sz="2200">
                <a:solidFill>
                  <a:srgbClr val="1F2937"/>
                </a:solidFill>
              </a:defRPr>
            </a:pPr>
            <a:r>
              <a:t>  政策受益明显,人口老龄化趋势</a:t>
            </a:r>
          </a:p>
          <a:p>
            <a:pPr>
              <a:spcAft>
                <a:spcPts val="1000"/>
              </a:spcAft>
              <a:defRPr sz="2200">
                <a:solidFill>
                  <a:srgbClr val="1F2937"/>
                </a:solidFill>
              </a:defRPr>
            </a:pPr>
          </a:p>
          <a:p>
            <a:pPr>
              <a:spcAft>
                <a:spcPts val="1000"/>
              </a:spcAft>
              <a:defRPr sz="2200">
                <a:solidFill>
                  <a:srgbClr val="1F2937"/>
                </a:solidFill>
              </a:defRPr>
            </a:pPr>
            <a:r>
              <a:t>🔋 主线二: 资源板块</a:t>
            </a:r>
          </a:p>
          <a:p>
            <a:pPr>
              <a:spcAft>
                <a:spcPts val="1000"/>
              </a:spcAft>
              <a:defRPr sz="2200">
                <a:solidFill>
                  <a:srgbClr val="1F2937"/>
                </a:solidFill>
              </a:defRPr>
            </a:pPr>
            <a:r>
              <a:t>  周期性机会显现,大宗商品价格回升</a:t>
            </a:r>
          </a:p>
          <a:p>
            <a:pPr>
              <a:spcAft>
                <a:spcPts val="1000"/>
              </a:spcAft>
              <a:defRPr sz="2200">
                <a:solidFill>
                  <a:srgbClr val="1F2937"/>
                </a:solidFill>
              </a:defRPr>
            </a:pPr>
          </a:p>
          <a:p>
            <a:pPr>
              <a:spcAft>
                <a:spcPts val="1000"/>
              </a:spcAft>
              <a:defRPr sz="2200">
                <a:solidFill>
                  <a:srgbClr val="1F2937"/>
                </a:solidFill>
              </a:defRPr>
            </a:pPr>
            <a:r>
              <a:t>💻 主线三: 科技板块</a:t>
            </a:r>
          </a:p>
          <a:p>
            <a:pPr>
              <a:spcAft>
                <a:spcPts val="1000"/>
              </a:spcAft>
              <a:defRPr sz="2200">
                <a:solidFill>
                  <a:srgbClr val="1F2937"/>
                </a:solidFill>
              </a:defRPr>
            </a:pPr>
            <a:r>
              <a:t>  调整后布局机会,AI技术持续突破</a:t>
            </a:r>
          </a:p>
          <a:p>
            <a:pPr>
              <a:spcAft>
                <a:spcPts val="1000"/>
              </a:spcAft>
              <a:defRPr sz="2200">
                <a:solidFill>
                  <a:srgbClr val="1F2937"/>
                </a:solidFill>
              </a:defRPr>
            </a:pPr>
          </a:p>
          <a:p>
            <a:pPr>
              <a:spcAft>
                <a:spcPts val="1000"/>
              </a:spcAft>
              <a:defRPr sz="2200">
                <a:solidFill>
                  <a:srgbClr val="1F2937"/>
                </a:solidFill>
              </a:defRPr>
            </a:pPr>
            <a:r>
              <a:t>🚀 主线四: 新质生产力</a:t>
            </a:r>
          </a:p>
          <a:p>
            <a:pPr>
              <a:spcAft>
                <a:spcPts val="1000"/>
              </a:spcAft>
              <a:defRPr sz="2200">
                <a:solidFill>
                  <a:srgbClr val="1F2937"/>
                </a:solidFill>
              </a:defRPr>
            </a:pPr>
            <a:r>
              <a:t>  政策大力支持,新兴产业崛起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3A8A"/>
                </a:solidFill>
              </a:defRPr>
            </a:pPr>
            <a:r>
              <a:t>操作建议 - 短期策略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77295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1F2937"/>
                </a:solidFill>
              </a:defRPr>
            </a:pPr>
            <a:r>
              <a:t>仓位管理:</a:t>
            </a:r>
          </a:p>
          <a:p>
            <a:pPr>
              <a:spcAft>
                <a:spcPts val="1000"/>
              </a:spcAft>
              <a:defRPr sz="2200">
                <a:solidFill>
                  <a:srgbClr val="1F2937"/>
                </a:solidFill>
              </a:defRPr>
            </a:pPr>
            <a:r>
              <a:t>• 总仓位: 控制在60%以内</a:t>
            </a:r>
          </a:p>
          <a:p>
            <a:pPr>
              <a:spcAft>
                <a:spcPts val="1000"/>
              </a:spcAft>
              <a:defRPr sz="2200">
                <a:solidFill>
                  <a:srgbClr val="1F2937"/>
                </a:solidFill>
              </a:defRPr>
            </a:pPr>
            <a:r>
              <a:t>• 持仓周期: 1-2周</a:t>
            </a:r>
          </a:p>
          <a:p>
            <a:pPr>
              <a:spcAft>
                <a:spcPts val="1000"/>
              </a:spcAft>
              <a:defRPr sz="2200">
                <a:solidFill>
                  <a:srgbClr val="1F2937"/>
                </a:solidFill>
              </a:defRPr>
            </a:pPr>
            <a:r>
              <a:t>• 调整频率: 不宜频繁</a:t>
            </a:r>
          </a:p>
          <a:p>
            <a:pPr>
              <a:spcAft>
                <a:spcPts val="1000"/>
              </a:spcAft>
              <a:defRPr sz="2200">
                <a:solidFill>
                  <a:srgbClr val="1F2937"/>
                </a:solidFill>
              </a:defRPr>
            </a:pPr>
          </a:p>
          <a:p>
            <a:pPr>
              <a:spcAft>
                <a:spcPts val="1000"/>
              </a:spcAft>
              <a:defRPr sz="2200">
                <a:solidFill>
                  <a:srgbClr val="1F2937"/>
                </a:solidFill>
              </a:defRPr>
            </a:pPr>
            <a:r>
              <a:t>具体建议:</a:t>
            </a:r>
          </a:p>
          <a:p>
            <a:pPr>
              <a:spcAft>
                <a:spcPts val="1000"/>
              </a:spcAft>
              <a:defRPr sz="2200">
                <a:solidFill>
                  <a:srgbClr val="1F2937"/>
                </a:solidFill>
              </a:defRPr>
            </a:pPr>
            <a:r>
              <a:t>1. 控制仓位,不宜激进</a:t>
            </a:r>
          </a:p>
          <a:p>
            <a:pPr>
              <a:spcAft>
                <a:spcPts val="1000"/>
              </a:spcAft>
              <a:defRPr sz="2200">
                <a:solidFill>
                  <a:srgbClr val="1F2937"/>
                </a:solidFill>
              </a:defRPr>
            </a:pPr>
            <a:r>
              <a:t>2. 关注3350-3370点支撑</a:t>
            </a:r>
          </a:p>
          <a:p>
            <a:pPr>
              <a:spcAft>
                <a:spcPts val="1000"/>
              </a:spcAft>
              <a:defRPr sz="2200">
                <a:solidFill>
                  <a:srgbClr val="1F2937"/>
                </a:solidFill>
              </a:defRPr>
            </a:pPr>
            <a:r>
              <a:t>3. 把握结构性机会</a:t>
            </a:r>
          </a:p>
          <a:p>
            <a:pPr>
              <a:spcAft>
                <a:spcPts val="1000"/>
              </a:spcAft>
              <a:defRPr sz="2200">
                <a:solidFill>
                  <a:srgbClr val="1F2937"/>
                </a:solidFill>
              </a:defRPr>
            </a:pPr>
            <a:r>
              <a:t>4. 等待量能放大信号</a:t>
            </a:r>
          </a:p>
          <a:p>
            <a:pPr>
              <a:spcAft>
                <a:spcPts val="1000"/>
              </a:spcAft>
              <a:defRPr sz="2200">
                <a:solidFill>
                  <a:srgbClr val="1F2937"/>
                </a:solidFill>
              </a:defRPr>
            </a:pPr>
          </a:p>
          <a:p>
            <a:pPr>
              <a:spcAft>
                <a:spcPts val="1000"/>
              </a:spcAft>
              <a:defRPr sz="2200">
                <a:solidFill>
                  <a:srgbClr val="1F2937"/>
                </a:solidFill>
              </a:defRPr>
            </a:pPr>
            <a:r>
              <a:t>操作要点:</a:t>
            </a:r>
          </a:p>
          <a:p>
            <a:pPr>
              <a:spcAft>
                <a:spcPts val="1000"/>
              </a:spcAft>
              <a:defRPr sz="2200">
                <a:solidFill>
                  <a:srgbClr val="1F2937"/>
                </a:solidFill>
              </a:defRPr>
            </a:pPr>
            <a:r>
              <a:t>🎯 不追高  🎯 不杀跌</a:t>
            </a:r>
          </a:p>
          <a:p>
            <a:pPr>
              <a:spcAft>
                <a:spcPts val="1000"/>
              </a:spcAft>
              <a:defRPr sz="2200">
                <a:solidFill>
                  <a:srgbClr val="1F2937"/>
                </a:solidFill>
              </a:defRPr>
            </a:pPr>
            <a:r>
              <a:t>🎯 逢高减仓  🎯 逢低吸纳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3A8A"/>
                </a:solidFill>
              </a:defRPr>
            </a:pPr>
            <a:r>
              <a:t>操作建议 - 中期策略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77295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1F2937"/>
                </a:solidFill>
              </a:defRPr>
            </a:pPr>
            <a:r>
              <a:t>核心原则:</a:t>
            </a:r>
          </a:p>
          <a:p>
            <a:pPr>
              <a:spcAft>
                <a:spcPts val="1000"/>
              </a:spcAft>
              <a:defRPr sz="2200">
                <a:solidFill>
                  <a:srgbClr val="1F2937"/>
                </a:solidFill>
              </a:defRPr>
            </a:pPr>
            <a:r>
              <a:t>💎 精选优质标的</a:t>
            </a:r>
          </a:p>
          <a:p>
            <a:pPr>
              <a:spcAft>
                <a:spcPts val="1000"/>
              </a:spcAft>
              <a:defRPr sz="2200">
                <a:solidFill>
                  <a:srgbClr val="1F2937"/>
                </a:solidFill>
              </a:defRPr>
            </a:pPr>
            <a:r>
              <a:t>💎 关注基本面</a:t>
            </a:r>
          </a:p>
          <a:p>
            <a:pPr>
              <a:spcAft>
                <a:spcPts val="1000"/>
              </a:spcAft>
              <a:defRPr sz="2200">
                <a:solidFill>
                  <a:srgbClr val="1F2937"/>
                </a:solidFill>
              </a:defRPr>
            </a:pPr>
            <a:r>
              <a:t>💎 逢低布局</a:t>
            </a:r>
          </a:p>
          <a:p>
            <a:pPr>
              <a:spcAft>
                <a:spcPts val="1000"/>
              </a:spcAft>
              <a:defRPr sz="2200">
                <a:solidFill>
                  <a:srgbClr val="1F2937"/>
                </a:solidFill>
              </a:defRPr>
            </a:pPr>
            <a:r>
              <a:t>💎 耐心持有</a:t>
            </a:r>
          </a:p>
          <a:p>
            <a:pPr>
              <a:spcAft>
                <a:spcPts val="1000"/>
              </a:spcAft>
              <a:defRPr sz="2200">
                <a:solidFill>
                  <a:srgbClr val="1F2937"/>
                </a:solidFill>
              </a:defRPr>
            </a:pPr>
          </a:p>
          <a:p>
            <a:pPr>
              <a:spcAft>
                <a:spcPts val="1000"/>
              </a:spcAft>
              <a:defRPr sz="2200">
                <a:solidFill>
                  <a:srgbClr val="1F2937"/>
                </a:solidFill>
              </a:defRPr>
            </a:pPr>
            <a:r>
              <a:t>选股标准:</a:t>
            </a:r>
          </a:p>
          <a:p>
            <a:pPr>
              <a:spcAft>
                <a:spcPts val="1000"/>
              </a:spcAft>
              <a:defRPr sz="2200">
                <a:solidFill>
                  <a:srgbClr val="1F2937"/>
                </a:solidFill>
              </a:defRPr>
            </a:pPr>
            <a:r>
              <a:t>📈 业绩增长稳定</a:t>
            </a:r>
          </a:p>
          <a:p>
            <a:pPr>
              <a:spcAft>
                <a:spcPts val="1000"/>
              </a:spcAft>
              <a:defRPr sz="2200">
                <a:solidFill>
                  <a:srgbClr val="1F2937"/>
                </a:solidFill>
              </a:defRPr>
            </a:pPr>
            <a:r>
              <a:t>📈 估值合理偏低</a:t>
            </a:r>
          </a:p>
          <a:p>
            <a:pPr>
              <a:spcAft>
                <a:spcPts val="1000"/>
              </a:spcAft>
              <a:defRPr sz="2200">
                <a:solidFill>
                  <a:srgbClr val="1F2937"/>
                </a:solidFill>
              </a:defRPr>
            </a:pPr>
            <a:r>
              <a:t>📈 行业景气度高</a:t>
            </a:r>
          </a:p>
          <a:p>
            <a:pPr>
              <a:spcAft>
                <a:spcPts val="1000"/>
              </a:spcAft>
              <a:defRPr sz="2200">
                <a:solidFill>
                  <a:srgbClr val="1F2937"/>
                </a:solidFill>
              </a:defRPr>
            </a:pPr>
            <a:r>
              <a:t>📈 竞争优势明显</a:t>
            </a:r>
          </a:p>
          <a:p>
            <a:pPr>
              <a:spcAft>
                <a:spcPts val="1000"/>
              </a:spcAft>
              <a:defRPr sz="2200">
                <a:solidFill>
                  <a:srgbClr val="1F2937"/>
                </a:solidFill>
              </a:defRPr>
            </a:pPr>
          </a:p>
          <a:p>
            <a:pPr>
              <a:spcAft>
                <a:spcPts val="1000"/>
              </a:spcAft>
              <a:defRPr sz="2200">
                <a:solidFill>
                  <a:srgbClr val="1F2937"/>
                </a:solidFill>
              </a:defRPr>
            </a:pPr>
            <a:r>
              <a:t>具体建议:</a:t>
            </a:r>
          </a:p>
          <a:p>
            <a:pPr>
              <a:spcAft>
                <a:spcPts val="1000"/>
              </a:spcAft>
              <a:defRPr sz="2200">
                <a:solidFill>
                  <a:srgbClr val="1F2937"/>
                </a:solidFill>
              </a:defRPr>
            </a:pPr>
            <a:r>
              <a:t>1. 精选优质标的,关注基本面</a:t>
            </a:r>
          </a:p>
          <a:p>
            <a:pPr>
              <a:spcAft>
                <a:spcPts val="1000"/>
              </a:spcAft>
              <a:defRPr sz="2200">
                <a:solidFill>
                  <a:srgbClr val="1F2937"/>
                </a:solidFill>
              </a:defRPr>
            </a:pPr>
            <a:r>
              <a:t>2. 关注政策受益板块</a:t>
            </a:r>
          </a:p>
          <a:p>
            <a:pPr>
              <a:spcAft>
                <a:spcPts val="1000"/>
              </a:spcAft>
              <a:defRPr sz="2200">
                <a:solidFill>
                  <a:srgbClr val="1F2937"/>
                </a:solidFill>
              </a:defRPr>
            </a:pPr>
            <a:r>
              <a:t>3. 逢低布局核心资产</a:t>
            </a:r>
          </a:p>
          <a:p>
            <a:pPr>
              <a:spcAft>
                <a:spcPts val="1000"/>
              </a:spcAft>
              <a:defRPr sz="2200">
                <a:solidFill>
                  <a:srgbClr val="1F2937"/>
                </a:solidFill>
              </a:defRPr>
            </a:pPr>
            <a:r>
              <a:t>4. 耐心持有,不频繁交易</a:t>
            </a:r>
          </a:p>
          <a:p>
            <a:pPr>
              <a:spcAft>
                <a:spcPts val="1000"/>
              </a:spcAft>
              <a:defRPr sz="2200">
                <a:solidFill>
                  <a:srgbClr val="1F2937"/>
                </a:solidFill>
              </a:defRPr>
            </a:pPr>
          </a:p>
          <a:p>
            <a:pPr>
              <a:spcAft>
                <a:spcPts val="1000"/>
              </a:spcAft>
              <a:defRPr sz="2200">
                <a:solidFill>
                  <a:srgbClr val="1F2937"/>
                </a:solidFill>
              </a:defRPr>
            </a:pPr>
            <a:r>
              <a:t>持仓周期: 3-6个月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3A8A"/>
                </a:solidFill>
              </a:defRPr>
            </a:pPr>
            <a:r>
              <a:t>操作建议 - 四大重点关注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77295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1F2937"/>
                </a:solidFill>
              </a:defRPr>
            </a:pPr>
            <a:r>
              <a:t>📊 量能变化</a:t>
            </a:r>
          </a:p>
          <a:p>
            <a:pPr>
              <a:spcAft>
                <a:spcPts val="1000"/>
              </a:spcAft>
              <a:defRPr sz="2200">
                <a:solidFill>
                  <a:srgbClr val="1F2937"/>
                </a:solidFill>
              </a:defRPr>
            </a:pPr>
            <a:r>
              <a:t>   成交量是否放量,换手率是否活跃,资金流向是否改善</a:t>
            </a:r>
          </a:p>
          <a:p>
            <a:pPr>
              <a:spcAft>
                <a:spcPts val="1000"/>
              </a:spcAft>
              <a:defRPr sz="2200">
                <a:solidFill>
                  <a:srgbClr val="1F2937"/>
                </a:solidFill>
              </a:defRPr>
            </a:pPr>
          </a:p>
          <a:p>
            <a:pPr>
              <a:spcAft>
                <a:spcPts val="1000"/>
              </a:spcAft>
              <a:defRPr sz="2200">
                <a:solidFill>
                  <a:srgbClr val="1F2937"/>
                </a:solidFill>
              </a:defRPr>
            </a:pPr>
            <a:r>
              <a:t>📜 政策落地</a:t>
            </a:r>
          </a:p>
          <a:p>
            <a:pPr>
              <a:spcAft>
                <a:spcPts val="1000"/>
              </a:spcAft>
              <a:defRPr sz="2200">
                <a:solidFill>
                  <a:srgbClr val="1F2937"/>
                </a:solidFill>
              </a:defRPr>
            </a:pPr>
            <a:r>
              <a:t>   财政政策是否发力,货币政策是否宽松,产业政策是否支持</a:t>
            </a:r>
          </a:p>
          <a:p>
            <a:pPr>
              <a:spcAft>
                <a:spcPts val="1000"/>
              </a:spcAft>
              <a:defRPr sz="2200">
                <a:solidFill>
                  <a:srgbClr val="1F2937"/>
                </a:solidFill>
              </a:defRPr>
            </a:pPr>
          </a:p>
          <a:p>
            <a:pPr>
              <a:spcAft>
                <a:spcPts val="1000"/>
              </a:spcAft>
              <a:defRPr sz="2200">
                <a:solidFill>
                  <a:srgbClr val="1F2937"/>
                </a:solidFill>
              </a:defRPr>
            </a:pPr>
            <a:r>
              <a:t>📈 行业景气</a:t>
            </a:r>
          </a:p>
          <a:p>
            <a:pPr>
              <a:spcAft>
                <a:spcPts val="1000"/>
              </a:spcAft>
              <a:defRPr sz="2200">
                <a:solidFill>
                  <a:srgbClr val="1F2937"/>
                </a:solidFill>
              </a:defRPr>
            </a:pPr>
            <a:r>
              <a:t>   行业周期是否向上,供需关系是否改善,价格趋势是否向好</a:t>
            </a:r>
          </a:p>
          <a:p>
            <a:pPr>
              <a:spcAft>
                <a:spcPts val="1000"/>
              </a:spcAft>
              <a:defRPr sz="2200">
                <a:solidFill>
                  <a:srgbClr val="1F2937"/>
                </a:solidFill>
              </a:defRPr>
            </a:pPr>
          </a:p>
          <a:p>
            <a:pPr>
              <a:spcAft>
                <a:spcPts val="1000"/>
              </a:spcAft>
              <a:defRPr sz="2200">
                <a:solidFill>
                  <a:srgbClr val="1F2937"/>
                </a:solidFill>
              </a:defRPr>
            </a:pPr>
            <a:r>
              <a:t>💰 公司业绩</a:t>
            </a:r>
          </a:p>
          <a:p>
            <a:pPr>
              <a:spcAft>
                <a:spcPts val="1000"/>
              </a:spcAft>
              <a:defRPr sz="2200">
                <a:solidFill>
                  <a:srgbClr val="1F2937"/>
                </a:solidFill>
              </a:defRPr>
            </a:pPr>
            <a:r>
              <a:t>   季报业绩是否超预期,订单是否增加,产能是否扩张</a:t>
            </a:r>
          </a:p>
          <a:p>
            <a:pPr>
              <a:spcAft>
                <a:spcPts val="1000"/>
              </a:spcAft>
              <a:defRPr sz="2200">
                <a:solidFill>
                  <a:srgbClr val="1F2937"/>
                </a:solidFill>
              </a:defRPr>
            </a:pPr>
          </a:p>
          <a:p>
            <a:pPr>
              <a:spcAft>
                <a:spcPts val="1000"/>
              </a:spcAft>
              <a:defRPr sz="2200">
                <a:solidFill>
                  <a:srgbClr val="1F2937"/>
                </a:solidFill>
              </a:defRPr>
            </a:pPr>
            <a:r>
              <a:t>跟踪频率: 每周复盘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3A8A"/>
                </a:solidFill>
              </a:defRPr>
            </a:pPr>
            <a:r>
              <a:t>风险提示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188720"/>
          <a:ext cx="11277295" cy="5212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9098"/>
                <a:gridCol w="3759098"/>
                <a:gridCol w="3759099"/>
              </a:tblGrid>
              <a:tr h="868680">
                <a:tc>
                  <a:txBody>
                    <a:bodyPr/>
                    <a:lstStyle/>
                    <a:p>
                      <a:pPr>
                        <a:defRPr sz="2000" b="1">
                          <a:solidFill>
                            <a:srgbClr val="FFFFFF"/>
                          </a:solidFill>
                        </a:defRPr>
                      </a:pPr>
                      <a:r>
                        <a:t>风险类型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1">
                          <a:solidFill>
                            <a:srgbClr val="FFFFFF"/>
                          </a:solidFill>
                        </a:defRPr>
                      </a:pPr>
                      <a:r>
                        <a:t>风险描述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1">
                          <a:solidFill>
                            <a:srgbClr val="FFFFFF"/>
                          </a:solidFill>
                        </a:defRPr>
                      </a:pPr>
                      <a:r>
                        <a:t>应对措施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1F2937"/>
                          </a:solidFill>
                        </a:defRPr>
                      </a:pPr>
                      <a:r>
                        <a:t>⚠️ 市场风险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1F2937"/>
                          </a:solidFill>
                        </a:defRPr>
                      </a:pPr>
                      <a:r>
                        <a:t>震荡调整可能持续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1F2937"/>
                          </a:solidFill>
                        </a:defRPr>
                      </a:pPr>
                      <a:r>
                        <a:t>控制仓位,分散投资</a:t>
                      </a:r>
                    </a:p>
                  </a:txBody>
                  <a:tcPr/>
                </a:tc>
              </a:tr>
              <a:tr h="868680"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1F2937"/>
                          </a:solidFill>
                        </a:defRPr>
                      </a:pPr>
                      <a:r>
                        <a:t>⚠️ 政策风险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1F2937"/>
                          </a:solidFill>
                        </a:defRPr>
                      </a:pPr>
                      <a:r>
                        <a:t>政策落地不及预期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1F2937"/>
                          </a:solidFill>
                        </a:defRPr>
                      </a:pPr>
                      <a:r>
                        <a:t>关注政策动向</a:t>
                      </a:r>
                    </a:p>
                  </a:txBody>
                  <a:tcPr/>
                </a:tc>
              </a:tr>
              <a:tr h="868680"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1F2937"/>
                          </a:solidFill>
                        </a:defRPr>
                      </a:pPr>
                      <a:r>
                        <a:t>⚠️ 流动性风险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1F2937"/>
                          </a:solidFill>
                        </a:defRPr>
                      </a:pPr>
                      <a:r>
                        <a:t>税期临近资金紧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1F2937"/>
                          </a:solidFill>
                        </a:defRPr>
                      </a:pPr>
                      <a:r>
                        <a:t>保持流动性</a:t>
                      </a:r>
                    </a:p>
                  </a:txBody>
                  <a:tcPr/>
                </a:tc>
              </a:tr>
              <a:tr h="868680"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1F2937"/>
                          </a:solidFill>
                        </a:defRPr>
                      </a:pPr>
                      <a:r>
                        <a:t>⚠️ 外围风险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1F2937"/>
                          </a:solidFill>
                        </a:defRPr>
                      </a:pPr>
                      <a:r>
                        <a:t>海外市场波动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1F2937"/>
                          </a:solidFill>
                        </a:defRPr>
                      </a:pPr>
                      <a:r>
                        <a:t>关注外围市场</a:t>
                      </a:r>
                    </a:p>
                  </a:txBody>
                  <a:tcPr/>
                </a:tc>
              </a:tr>
              <a:tr h="868680"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1F2937"/>
                          </a:solidFill>
                        </a:defRPr>
                      </a:pPr>
                      <a:r>
                        <a:t>⚠️ 个股风险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1F2937"/>
                          </a:solidFill>
                        </a:defRPr>
                      </a:pPr>
                      <a:r>
                        <a:t>高位股分化回调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1F2937"/>
                          </a:solidFill>
                        </a:defRPr>
                      </a:pPr>
                      <a:r>
                        <a:t>避免追高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3A8A"/>
                </a:solidFill>
              </a:defRPr>
            </a:pPr>
            <a:r>
              <a:t>总结 - 核心观点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77295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1F2937"/>
                </a:solidFill>
              </a:defRPr>
            </a:pPr>
            <a:r>
              <a:t>市场表现:</a:t>
            </a:r>
          </a:p>
          <a:p>
            <a:pPr>
              <a:spcAft>
                <a:spcPts val="1000"/>
              </a:spcAft>
              <a:defRPr sz="2200">
                <a:solidFill>
                  <a:srgbClr val="1F2937"/>
                </a:solidFill>
              </a:defRPr>
            </a:pPr>
            <a:r>
              <a:t>✅ 三大指数小幅收跌</a:t>
            </a:r>
          </a:p>
          <a:p>
            <a:pPr>
              <a:spcAft>
                <a:spcPts val="1000"/>
              </a:spcAft>
              <a:defRPr sz="2200">
                <a:solidFill>
                  <a:srgbClr val="1F2937"/>
                </a:solidFill>
              </a:defRPr>
            </a:pPr>
            <a:r>
              <a:t>✅ 震荡整理,观望升温</a:t>
            </a:r>
          </a:p>
          <a:p>
            <a:pPr>
              <a:spcAft>
                <a:spcPts val="1000"/>
              </a:spcAft>
              <a:defRPr sz="2200">
                <a:solidFill>
                  <a:srgbClr val="1F2937"/>
                </a:solidFill>
              </a:defRPr>
            </a:pPr>
            <a:r>
              <a:t>✅ 成交显著缩量</a:t>
            </a:r>
          </a:p>
          <a:p>
            <a:pPr>
              <a:spcAft>
                <a:spcPts val="1000"/>
              </a:spcAft>
              <a:defRPr sz="2200">
                <a:solidFill>
                  <a:srgbClr val="1F2937"/>
                </a:solidFill>
              </a:defRPr>
            </a:pPr>
            <a:r>
              <a:t>✅ 结构性分化明显</a:t>
            </a:r>
          </a:p>
          <a:p>
            <a:pPr>
              <a:spcAft>
                <a:spcPts val="1000"/>
              </a:spcAft>
              <a:defRPr sz="2200">
                <a:solidFill>
                  <a:srgbClr val="1F2937"/>
                </a:solidFill>
              </a:defRPr>
            </a:pPr>
          </a:p>
          <a:p>
            <a:pPr>
              <a:spcAft>
                <a:spcPts val="1000"/>
              </a:spcAft>
              <a:defRPr sz="2200">
                <a:solidFill>
                  <a:srgbClr val="1F2937"/>
                </a:solidFill>
              </a:defRPr>
            </a:pPr>
            <a:r>
              <a:t>资金特征:</a:t>
            </a:r>
          </a:p>
          <a:p>
            <a:pPr>
              <a:spcAft>
                <a:spcPts val="1000"/>
              </a:spcAft>
              <a:defRPr sz="2200">
                <a:solidFill>
                  <a:srgbClr val="1F2937"/>
                </a:solidFill>
              </a:defRPr>
            </a:pPr>
            <a:r>
              <a:t>✅ 主力资金大幅流出</a:t>
            </a:r>
          </a:p>
          <a:p>
            <a:pPr>
              <a:spcAft>
                <a:spcPts val="1000"/>
              </a:spcAft>
              <a:defRPr sz="2200">
                <a:solidFill>
                  <a:srgbClr val="1F2937"/>
                </a:solidFill>
              </a:defRPr>
            </a:pPr>
            <a:r>
              <a:t>✅ 北向资金逆势流入</a:t>
            </a:r>
          </a:p>
          <a:p>
            <a:pPr>
              <a:spcAft>
                <a:spcPts val="1000"/>
              </a:spcAft>
              <a:defRPr sz="2200">
                <a:solidFill>
                  <a:srgbClr val="1F2937"/>
                </a:solidFill>
              </a:defRPr>
            </a:pPr>
            <a:r>
              <a:t>✅ 散户资金相对活跃</a:t>
            </a:r>
          </a:p>
          <a:p>
            <a:pPr>
              <a:spcAft>
                <a:spcPts val="1000"/>
              </a:spcAft>
              <a:defRPr sz="2200">
                <a:solidFill>
                  <a:srgbClr val="1F2937"/>
                </a:solidFill>
              </a:defRPr>
            </a:pPr>
            <a:r>
              <a:t>✅ 外资长期看好</a:t>
            </a:r>
          </a:p>
          <a:p>
            <a:pPr>
              <a:spcAft>
                <a:spcPts val="1000"/>
              </a:spcAft>
              <a:defRPr sz="2200">
                <a:solidFill>
                  <a:srgbClr val="1F2937"/>
                </a:solidFill>
              </a:defRPr>
            </a:pPr>
          </a:p>
          <a:p>
            <a:pPr>
              <a:spcAft>
                <a:spcPts val="1000"/>
              </a:spcAft>
              <a:defRPr sz="2200">
                <a:solidFill>
                  <a:srgbClr val="1F2937"/>
                </a:solidFill>
              </a:defRPr>
            </a:pPr>
            <a:r>
              <a:t>市场机会:</a:t>
            </a:r>
          </a:p>
          <a:p>
            <a:pPr>
              <a:spcAft>
                <a:spcPts val="1000"/>
              </a:spcAft>
              <a:defRPr sz="2200">
                <a:solidFill>
                  <a:srgbClr val="1F2937"/>
                </a:solidFill>
              </a:defRPr>
            </a:pPr>
            <a:r>
              <a:t>✅ 医药板块政策受益</a:t>
            </a:r>
          </a:p>
          <a:p>
            <a:pPr>
              <a:spcAft>
                <a:spcPts val="1000"/>
              </a:spcAft>
              <a:defRPr sz="2200">
                <a:solidFill>
                  <a:srgbClr val="1F2937"/>
                </a:solidFill>
              </a:defRPr>
            </a:pPr>
            <a:r>
              <a:t>✅ 资源板块周期机会</a:t>
            </a:r>
          </a:p>
          <a:p>
            <a:pPr>
              <a:spcAft>
                <a:spcPts val="1000"/>
              </a:spcAft>
              <a:defRPr sz="2200">
                <a:solidFill>
                  <a:srgbClr val="1F2937"/>
                </a:solidFill>
              </a:defRPr>
            </a:pPr>
            <a:r>
              <a:t>✅ 科技板块调整布局</a:t>
            </a:r>
          </a:p>
          <a:p>
            <a:pPr>
              <a:spcAft>
                <a:spcPts val="1000"/>
              </a:spcAft>
              <a:defRPr sz="2200">
                <a:solidFill>
                  <a:srgbClr val="1F2937"/>
                </a:solidFill>
              </a:defRPr>
            </a:pPr>
            <a:r>
              <a:t>✅ 新质生产力长期方向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3A8A"/>
                </a:solidFill>
              </a:defRPr>
            </a:pPr>
            <a:r>
              <a:t>总结 - 关键数据回顾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77295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1F2937"/>
                </a:solidFill>
              </a:defRPr>
            </a:pPr>
            <a:r>
              <a:t>指数表现:</a:t>
            </a:r>
          </a:p>
          <a:p>
            <a:pPr>
              <a:spcAft>
                <a:spcPts val="1000"/>
              </a:spcAft>
              <a:defRPr sz="2200">
                <a:solidFill>
                  <a:srgbClr val="1F2937"/>
                </a:solidFill>
              </a:defRPr>
            </a:pPr>
            <a:r>
              <a:t>• 上证指数: 3366.16点 (↓0.19%)</a:t>
            </a:r>
          </a:p>
          <a:p>
            <a:pPr>
              <a:spcAft>
                <a:spcPts val="1000"/>
              </a:spcAft>
              <a:defRPr sz="2200">
                <a:solidFill>
                  <a:srgbClr val="1F2937"/>
                </a:solidFill>
              </a:defRPr>
            </a:pPr>
            <a:r>
              <a:t>• 深证成指: 10825.70点 (↓0.17%)</a:t>
            </a:r>
          </a:p>
          <a:p>
            <a:pPr>
              <a:spcAft>
                <a:spcPts val="1000"/>
              </a:spcAft>
              <a:defRPr sz="2200">
                <a:solidFill>
                  <a:srgbClr val="1F2937"/>
                </a:solidFill>
              </a:defRPr>
            </a:pPr>
            <a:r>
              <a:t>• 创业板指: 2199.88点 (↓0.25%)</a:t>
            </a:r>
          </a:p>
          <a:p>
            <a:pPr>
              <a:spcAft>
                <a:spcPts val="1000"/>
              </a:spcAft>
              <a:defRPr sz="2200">
                <a:solidFill>
                  <a:srgbClr val="1F2937"/>
                </a:solidFill>
              </a:defRPr>
            </a:pPr>
          </a:p>
          <a:p>
            <a:pPr>
              <a:spcAft>
                <a:spcPts val="1000"/>
              </a:spcAft>
              <a:defRPr sz="2200">
                <a:solidFill>
                  <a:srgbClr val="1F2937"/>
                </a:solidFill>
              </a:defRPr>
            </a:pPr>
            <a:r>
              <a:t>成交情况:</a:t>
            </a:r>
          </a:p>
          <a:p>
            <a:pPr>
              <a:spcAft>
                <a:spcPts val="1000"/>
              </a:spcAft>
              <a:defRPr sz="2200">
                <a:solidFill>
                  <a:srgbClr val="1F2937"/>
                </a:solidFill>
              </a:defRPr>
            </a:pPr>
            <a:r>
              <a:t>• 成交额: 15057亿元 (↓3176亿元)</a:t>
            </a:r>
          </a:p>
          <a:p>
            <a:pPr>
              <a:spcAft>
                <a:spcPts val="1000"/>
              </a:spcAft>
              <a:defRPr sz="2200">
                <a:solidFill>
                  <a:srgbClr val="1F2937"/>
                </a:solidFill>
              </a:defRPr>
            </a:pPr>
            <a:r>
              <a:t>• 涨跌分布: 3279涨 / 1950跌</a:t>
            </a:r>
          </a:p>
          <a:p>
            <a:pPr>
              <a:spcAft>
                <a:spcPts val="1000"/>
              </a:spcAft>
              <a:defRPr sz="2200">
                <a:solidFill>
                  <a:srgbClr val="1F2937"/>
                </a:solidFill>
              </a:defRPr>
            </a:pPr>
            <a:r>
              <a:t>• 上涨占比: 62.7%</a:t>
            </a:r>
          </a:p>
          <a:p>
            <a:pPr>
              <a:spcAft>
                <a:spcPts val="1000"/>
              </a:spcAft>
              <a:defRPr sz="2200">
                <a:solidFill>
                  <a:srgbClr val="1F2937"/>
                </a:solidFill>
              </a:defRPr>
            </a:pPr>
          </a:p>
          <a:p>
            <a:pPr>
              <a:spcAft>
                <a:spcPts val="1000"/>
              </a:spcAft>
              <a:defRPr sz="2200">
                <a:solidFill>
                  <a:srgbClr val="1F2937"/>
                </a:solidFill>
              </a:defRPr>
            </a:pPr>
            <a:r>
              <a:t>资金流向:</a:t>
            </a:r>
          </a:p>
          <a:p>
            <a:pPr>
              <a:spcAft>
                <a:spcPts val="1000"/>
              </a:spcAft>
              <a:defRPr sz="2200">
                <a:solidFill>
                  <a:srgbClr val="1F2937"/>
                </a:solidFill>
              </a:defRPr>
            </a:pPr>
            <a:r>
              <a:t>• 主力净流出: 248.13亿元</a:t>
            </a:r>
          </a:p>
          <a:p>
            <a:pPr>
              <a:spcAft>
                <a:spcPts val="1000"/>
              </a:spcAft>
              <a:defRPr sz="2200">
                <a:solidFill>
                  <a:srgbClr val="1F2937"/>
                </a:solidFill>
              </a:defRPr>
            </a:pPr>
            <a:r>
              <a:t>• 北向净买入: 50亿元</a:t>
            </a:r>
          </a:p>
          <a:p>
            <a:pPr>
              <a:spcAft>
                <a:spcPts val="1000"/>
              </a:spcAft>
              <a:defRPr sz="2200">
                <a:solidFill>
                  <a:srgbClr val="1F2937"/>
                </a:solidFill>
              </a:defRPr>
            </a:pPr>
            <a:r>
              <a:t>• 散户净流入: 210.38亿元</a:t>
            </a:r>
          </a:p>
          <a:p>
            <a:pPr>
              <a:spcAft>
                <a:spcPts val="1000"/>
              </a:spcAft>
              <a:defRPr sz="2200">
                <a:solidFill>
                  <a:srgbClr val="1F2937"/>
                </a:solidFill>
              </a:defRPr>
            </a:pPr>
          </a:p>
          <a:p>
            <a:pPr>
              <a:spcAft>
                <a:spcPts val="1000"/>
              </a:spcAft>
              <a:defRPr sz="2200">
                <a:solidFill>
                  <a:srgbClr val="1F2937"/>
                </a:solidFill>
              </a:defRPr>
            </a:pPr>
            <a:r>
              <a:t>领涨板块:</a:t>
            </a:r>
          </a:p>
          <a:p>
            <a:pPr>
              <a:spcAft>
                <a:spcPts val="1000"/>
              </a:spcAft>
              <a:defRPr sz="2200">
                <a:solidFill>
                  <a:srgbClr val="1F2937"/>
                </a:solidFill>
              </a:defRPr>
            </a:pPr>
            <a:r>
              <a:t>• 医药商业: +4.08%</a:t>
            </a:r>
          </a:p>
          <a:p>
            <a:pPr>
              <a:spcAft>
                <a:spcPts val="1000"/>
              </a:spcAft>
              <a:defRPr sz="2200">
                <a:solidFill>
                  <a:srgbClr val="1F2937"/>
                </a:solidFill>
              </a:defRPr>
            </a:pPr>
            <a:r>
              <a:t>• 非金属材料: +2.53%</a:t>
            </a:r>
          </a:p>
          <a:p>
            <a:pPr>
              <a:spcAft>
                <a:spcPts val="1000"/>
              </a:spcAft>
              <a:defRPr sz="2200">
                <a:solidFill>
                  <a:srgbClr val="1F2937"/>
                </a:solidFill>
              </a:defRPr>
            </a:pPr>
            <a:r>
              <a:t>• 电子元件: +1.61%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3A8A"/>
                </a:solidFill>
              </a:defRPr>
            </a:pPr>
            <a:r>
              <a:t>总结 - 投资建议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77295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1F2937"/>
                </a:solidFill>
              </a:defRPr>
            </a:pPr>
            <a:r>
              <a:t>短期 (1-2周):</a:t>
            </a:r>
          </a:p>
          <a:p>
            <a:pPr>
              <a:spcAft>
                <a:spcPts val="1000"/>
              </a:spcAft>
              <a:defRPr sz="2200">
                <a:solidFill>
                  <a:srgbClr val="1F2937"/>
                </a:solidFill>
              </a:defRPr>
            </a:pPr>
            <a:r>
              <a:t>⏸️ 控制仓位,谨慎观望</a:t>
            </a:r>
          </a:p>
          <a:p>
            <a:pPr>
              <a:spcAft>
                <a:spcPts val="1000"/>
              </a:spcAft>
              <a:defRPr sz="2200">
                <a:solidFill>
                  <a:srgbClr val="1F2937"/>
                </a:solidFill>
              </a:defRPr>
            </a:pPr>
            <a:r>
              <a:t>⏸️ 不追高,不杀跌</a:t>
            </a:r>
          </a:p>
          <a:p>
            <a:pPr>
              <a:spcAft>
                <a:spcPts val="1000"/>
              </a:spcAft>
              <a:defRPr sz="2200">
                <a:solidFill>
                  <a:srgbClr val="1F2937"/>
                </a:solidFill>
              </a:defRPr>
            </a:pPr>
            <a:r>
              <a:t>⏸️ 等待量能放大信号</a:t>
            </a:r>
          </a:p>
          <a:p>
            <a:pPr>
              <a:spcAft>
                <a:spcPts val="1000"/>
              </a:spcAft>
              <a:defRPr sz="2200">
                <a:solidFill>
                  <a:srgbClr val="1F2937"/>
                </a:solidFill>
              </a:defRPr>
            </a:pPr>
            <a:r>
              <a:t>⏸️ 关注3350点支撑</a:t>
            </a:r>
          </a:p>
          <a:p>
            <a:pPr>
              <a:spcAft>
                <a:spcPts val="1000"/>
              </a:spcAft>
              <a:defRPr sz="2200">
                <a:solidFill>
                  <a:srgbClr val="1F2937"/>
                </a:solidFill>
              </a:defRPr>
            </a:pPr>
          </a:p>
          <a:p>
            <a:pPr>
              <a:spcAft>
                <a:spcPts val="1000"/>
              </a:spcAft>
              <a:defRPr sz="2200">
                <a:solidFill>
                  <a:srgbClr val="1F2937"/>
                </a:solidFill>
              </a:defRPr>
            </a:pPr>
            <a:r>
              <a:t>中期 (3-6个月):</a:t>
            </a:r>
          </a:p>
          <a:p>
            <a:pPr>
              <a:spcAft>
                <a:spcPts val="1000"/>
              </a:spcAft>
              <a:defRPr sz="2200">
                <a:solidFill>
                  <a:srgbClr val="1F2937"/>
                </a:solidFill>
              </a:defRPr>
            </a:pPr>
            <a:r>
              <a:t>✅ 把握结构性机会</a:t>
            </a:r>
          </a:p>
          <a:p>
            <a:pPr>
              <a:spcAft>
                <a:spcPts val="1000"/>
              </a:spcAft>
              <a:defRPr sz="2200">
                <a:solidFill>
                  <a:srgbClr val="1F2937"/>
                </a:solidFill>
              </a:defRPr>
            </a:pPr>
            <a:r>
              <a:t>✅ 逢低布局优质标的</a:t>
            </a:r>
          </a:p>
          <a:p>
            <a:pPr>
              <a:spcAft>
                <a:spcPts val="1000"/>
              </a:spcAft>
              <a:defRPr sz="2200">
                <a:solidFill>
                  <a:srgbClr val="1F2937"/>
                </a:solidFill>
              </a:defRPr>
            </a:pPr>
            <a:r>
              <a:t>✅ 关注政策受益板块</a:t>
            </a:r>
          </a:p>
          <a:p>
            <a:pPr>
              <a:spcAft>
                <a:spcPts val="1000"/>
              </a:spcAft>
              <a:defRPr sz="2200">
                <a:solidFill>
                  <a:srgbClr val="1F2937"/>
                </a:solidFill>
              </a:defRPr>
            </a:pPr>
            <a:r>
              <a:t>✅ 坚持价值投资</a:t>
            </a:r>
          </a:p>
          <a:p>
            <a:pPr>
              <a:spcAft>
                <a:spcPts val="1000"/>
              </a:spcAft>
              <a:defRPr sz="2200">
                <a:solidFill>
                  <a:srgbClr val="1F2937"/>
                </a:solidFill>
              </a:defRPr>
            </a:pPr>
          </a:p>
          <a:p>
            <a:pPr>
              <a:spcAft>
                <a:spcPts val="1000"/>
              </a:spcAft>
              <a:defRPr sz="2200">
                <a:solidFill>
                  <a:srgbClr val="1F2937"/>
                </a:solidFill>
              </a:defRPr>
            </a:pPr>
            <a:r>
              <a:t>长期 (1-3年):</a:t>
            </a:r>
          </a:p>
          <a:p>
            <a:pPr>
              <a:spcAft>
                <a:spcPts val="1000"/>
              </a:spcAft>
              <a:defRPr sz="2200">
                <a:solidFill>
                  <a:srgbClr val="1F2937"/>
                </a:solidFill>
              </a:defRPr>
            </a:pPr>
            <a:r>
              <a:t>🎯 坚持价值投资理念</a:t>
            </a:r>
          </a:p>
          <a:p>
            <a:pPr>
              <a:spcAft>
                <a:spcPts val="1000"/>
              </a:spcAft>
              <a:defRPr sz="2200">
                <a:solidFill>
                  <a:srgbClr val="1F2937"/>
                </a:solidFill>
              </a:defRPr>
            </a:pPr>
            <a:r>
              <a:t>🎯 关注核心资产</a:t>
            </a:r>
          </a:p>
          <a:p>
            <a:pPr>
              <a:spcAft>
                <a:spcPts val="1000"/>
              </a:spcAft>
              <a:defRPr sz="2200">
                <a:solidFill>
                  <a:srgbClr val="1F2937"/>
                </a:solidFill>
              </a:defRPr>
            </a:pPr>
            <a:r>
              <a:t>🎯 布局新质生产力</a:t>
            </a:r>
          </a:p>
          <a:p>
            <a:pPr>
              <a:spcAft>
                <a:spcPts val="1000"/>
              </a:spcAft>
              <a:defRPr sz="2200">
                <a:solidFill>
                  <a:srgbClr val="1F2937"/>
                </a:solidFill>
              </a:defRPr>
            </a:pPr>
            <a:r>
              <a:t>🎯 享受长期复利</a:t>
            </a:r>
          </a:p>
          <a:p>
            <a:pPr>
              <a:spcAft>
                <a:spcPts val="1000"/>
              </a:spcAft>
              <a:defRPr sz="2200">
                <a:solidFill>
                  <a:srgbClr val="1F2937"/>
                </a:solidFill>
              </a:defRPr>
            </a:pPr>
          </a:p>
          <a:p>
            <a:pPr>
              <a:spcAft>
                <a:spcPts val="1000"/>
              </a:spcAft>
              <a:defRPr sz="2200">
                <a:solidFill>
                  <a:srgbClr val="1F2937"/>
                </a:solidFill>
              </a:defRPr>
            </a:pPr>
            <a:r>
              <a:t>投资理念: 价值投资,长期持有,控制风险,稳健收益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0"/>
            <a:ext cx="103628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1E3A8A"/>
                </a:solidFill>
              </a:defRPr>
            </a:pPr>
            <a:r>
              <a:t>感谢观看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114800"/>
            <a:ext cx="103628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500"/>
              </a:spcAft>
              <a:defRPr sz="1600">
                <a:solidFill>
                  <a:srgbClr val="6B7280"/>
                </a:solidFill>
              </a:defRPr>
            </a:pPr>
            <a:r>
              <a:t>免责声明:</a:t>
            </a:r>
          </a:p>
          <a:p>
            <a:pPr algn="ctr">
              <a:spcAft>
                <a:spcPts val="500"/>
              </a:spcAft>
              <a:defRPr sz="1600">
                <a:solidFill>
                  <a:srgbClr val="6B7280"/>
                </a:solidFill>
              </a:defRPr>
            </a:pPr>
            <a:r>
              <a:t>本报告基于公开信息整理,仅供参考,不构成任何投资建议。</a:t>
            </a:r>
          </a:p>
          <a:p>
            <a:pPr algn="ctr">
              <a:spcAft>
                <a:spcPts val="500"/>
              </a:spcAft>
              <a:defRPr sz="1600">
                <a:solidFill>
                  <a:srgbClr val="6B7280"/>
                </a:solidFill>
              </a:defRPr>
            </a:pPr>
            <a:r>
              <a:t>股市有风险,投资需谨慎。</a:t>
            </a:r>
          </a:p>
          <a:p>
            <a:pPr algn="ctr">
              <a:spcAft>
                <a:spcPts val="500"/>
              </a:spcAft>
              <a:defRPr sz="1600">
                <a:solidFill>
                  <a:srgbClr val="6B7280"/>
                </a:solidFill>
              </a:defRPr>
            </a:pPr>
            <a:r>
              <a:t>投资者据此操作,风险自担。</a:t>
            </a:r>
          </a:p>
          <a:p>
            <a:pPr algn="ctr">
              <a:spcAft>
                <a:spcPts val="500"/>
              </a:spcAft>
              <a:defRPr sz="1600">
                <a:solidFill>
                  <a:srgbClr val="6B7280"/>
                </a:solidFill>
              </a:defRPr>
            </a:pPr>
          </a:p>
          <a:p>
            <a:pPr algn="ctr">
              <a:spcAft>
                <a:spcPts val="500"/>
              </a:spcAft>
              <a:defRPr sz="1600">
                <a:solidFill>
                  <a:srgbClr val="6B7280"/>
                </a:solidFill>
              </a:defRPr>
            </a:pPr>
            <a:r>
              <a:t>数据来源: 今日头条、新浪财经、雪球</a:t>
            </a:r>
          </a:p>
          <a:p>
            <a:pPr algn="ctr">
              <a:spcAft>
                <a:spcPts val="500"/>
              </a:spcAft>
              <a:defRPr sz="1600">
                <a:solidFill>
                  <a:srgbClr val="6B7280"/>
                </a:solidFill>
              </a:defRPr>
            </a:pPr>
            <a:r>
              <a:t>更新时间: 2025年3月10日收盘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